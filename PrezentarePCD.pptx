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8" r:id="rId12"/>
    <p:sldId id="267" r:id="rId13"/>
  </p:sldIdLst>
  <p:sldSz cx="18288000" cy="10287000"/>
  <p:notesSz cx="6858000" cy="9144000"/>
  <p:embeddedFontLst>
    <p:embeddedFont>
      <p:font typeface="Inclusive Sans" panose="020B0604020202020204" charset="0"/>
      <p:regular r:id="rId15"/>
      <p:bold r:id="rId16"/>
      <p:italic r:id="rId17"/>
      <p:boldItalic r:id="rId18"/>
    </p:embeddedFont>
    <p:embeddedFont>
      <p:font typeface="Merriweather Sans" pitchFamily="2" charset="-18"/>
      <p:regular r:id="rId19"/>
      <p:bold r:id="rId20"/>
      <p:italic r:id="rId21"/>
      <p:boldItalic r:id="rId22"/>
    </p:embeddedFont>
    <p:embeddedFont>
      <p:font typeface="Merriweather Sans Light" pitchFamily="2" charset="-18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F2951D-F056-4EE1-9A8E-40653F2748D4}">
  <a:tblStyle styleId="{1CF2951D-F056-4EE1-9A8E-40653F274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B0D3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l="7201"/>
          <a:stretch/>
        </p:blipFill>
        <p:spPr>
          <a:xfrm>
            <a:off x="1" y="0"/>
            <a:ext cx="79806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042750" y="1408986"/>
            <a:ext cx="82296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0000"/>
              <a:buFont typeface="Merriweather Sans"/>
              <a:buNone/>
              <a:defRPr sz="10000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9042750" y="6730900"/>
            <a:ext cx="8229600" cy="18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»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7075" y="-26750"/>
            <a:ext cx="18342149" cy="103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45200" y="2993078"/>
            <a:ext cx="8229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SzPts val="10000"/>
              <a:buFont typeface="Merriweather Sans"/>
              <a:buNone/>
              <a:defRPr sz="1000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0313075" y="1861175"/>
            <a:ext cx="6959400" cy="6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>
              <a:spcBef>
                <a:spcPts val="640"/>
              </a:spcBef>
              <a:spcAft>
                <a:spcPts val="0"/>
              </a:spcAft>
              <a:buSzPts val="1800"/>
              <a:buFont typeface="Inclusive Sans"/>
              <a:buChar char="•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SzPts val="1800"/>
              <a:buFont typeface="Inclusive Sans"/>
              <a:buChar char="–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>
              <a:spcBef>
                <a:spcPts val="480"/>
              </a:spcBef>
              <a:spcAft>
                <a:spcPts val="0"/>
              </a:spcAft>
              <a:buSzPts val="1800"/>
              <a:buFont typeface="Inclusive Sans"/>
              <a:buChar char="•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>
              <a:spcBef>
                <a:spcPts val="400"/>
              </a:spcBef>
              <a:spcAft>
                <a:spcPts val="0"/>
              </a:spcAft>
              <a:buSzPts val="1800"/>
              <a:buFont typeface="Inclusive Sans"/>
              <a:buChar char="–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>
              <a:spcBef>
                <a:spcPts val="400"/>
              </a:spcBef>
              <a:spcAft>
                <a:spcPts val="0"/>
              </a:spcAft>
              <a:buSzPts val="1800"/>
              <a:buFont typeface="Inclusive Sans"/>
              <a:buChar char="»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>
              <a:spcBef>
                <a:spcPts val="400"/>
              </a:spcBef>
              <a:spcAft>
                <a:spcPts val="0"/>
              </a:spcAft>
              <a:buSzPts val="1800"/>
              <a:buFont typeface="Inclusive Sans"/>
              <a:buChar char="•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>
              <a:spcBef>
                <a:spcPts val="400"/>
              </a:spcBef>
              <a:spcAft>
                <a:spcPts val="0"/>
              </a:spcAft>
              <a:buSzPts val="1800"/>
              <a:buFont typeface="Inclusive Sans"/>
              <a:buChar char="•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>
              <a:spcBef>
                <a:spcPts val="400"/>
              </a:spcBef>
              <a:spcAft>
                <a:spcPts val="0"/>
              </a:spcAft>
              <a:buSzPts val="1800"/>
              <a:buFont typeface="Inclusive Sans"/>
              <a:buChar char="•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>
              <a:spcBef>
                <a:spcPts val="400"/>
              </a:spcBef>
              <a:spcAft>
                <a:spcPts val="0"/>
              </a:spcAft>
              <a:buSzPts val="1800"/>
              <a:buFont typeface="Inclusive Sans"/>
              <a:buChar char="•"/>
              <a:defRPr sz="1800" i="0" u="none" strike="noStrike" cap="none"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-1633480" y="2465538"/>
            <a:ext cx="10036504" cy="5756817"/>
            <a:chOff x="0" y="0"/>
            <a:chExt cx="7981950" cy="4578350"/>
          </a:xfrm>
        </p:grpSpPr>
        <p:sp>
          <p:nvSpPr>
            <p:cNvPr id="25" name="Google Shape;25;p5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 extrusionOk="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 extrusionOk="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5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 extrusionOk="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5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 extrusionOk="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5"/>
          <p:cNvGrpSpPr/>
          <p:nvPr/>
        </p:nvGrpSpPr>
        <p:grpSpPr>
          <a:xfrm>
            <a:off x="0" y="-325489"/>
            <a:ext cx="18288118" cy="706493"/>
            <a:chOff x="0" y="-85725"/>
            <a:chExt cx="4816592" cy="186071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1" name="Google Shape;31;p5"/>
            <p:cNvSpPr txBox="1"/>
            <p:nvPr/>
          </p:nvSpPr>
          <p:spPr>
            <a:xfrm>
              <a:off x="0" y="-85725"/>
              <a:ext cx="4816500" cy="1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9042750" y="1762292"/>
            <a:ext cx="8229600" cy="24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SzPts val="7000"/>
              <a:buFont typeface="Merriweather Sans"/>
              <a:buNone/>
              <a:defRPr sz="7000" i="0" u="none" strike="noStrike" cap="none">
                <a:solidFill>
                  <a:srgbClr val="A477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9042750" y="4597188"/>
            <a:ext cx="8229600" cy="4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»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-443300" y="2796650"/>
            <a:ext cx="7656600" cy="482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1234549" y="846026"/>
            <a:ext cx="6517859" cy="8596697"/>
          </a:xfrm>
          <a:custGeom>
            <a:avLst/>
            <a:gdLst/>
            <a:ahLst/>
            <a:cxnLst/>
            <a:rect l="l" t="t" r="r" b="b"/>
            <a:pathLst>
              <a:path w="5152458" h="6795808" extrusionOk="0">
                <a:moveTo>
                  <a:pt x="0" y="0"/>
                </a:moveTo>
                <a:lnTo>
                  <a:pt x="5152458" y="0"/>
                </a:lnTo>
                <a:lnTo>
                  <a:pt x="5152458" y="6795808"/>
                </a:lnTo>
                <a:lnTo>
                  <a:pt x="0" y="6795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9042750" y="1408986"/>
            <a:ext cx="82296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0000"/>
              <a:buFont typeface="Merriweather Sans"/>
              <a:buNone/>
              <a:defRPr sz="10000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9042750" y="6730900"/>
            <a:ext cx="8229600" cy="18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»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 t="51837" r="418"/>
          <a:stretch/>
        </p:blipFill>
        <p:spPr>
          <a:xfrm>
            <a:off x="6778251" y="0"/>
            <a:ext cx="11509749" cy="347462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907025" y="4078511"/>
            <a:ext cx="82296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0000"/>
              <a:buFont typeface="Merriweather Sans"/>
              <a:buNone/>
              <a:defRPr sz="10000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1046475" y="4239000"/>
            <a:ext cx="6434400" cy="50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»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4400"/>
              <a:buFont typeface="Merriweather Sans"/>
              <a:buNone/>
              <a:defRPr sz="4400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None/>
              <a:defRPr sz="1800">
                <a:solidFill>
                  <a:srgbClr val="F9F6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•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–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•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–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»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•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•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•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2000"/>
              <a:buFont typeface="Inclusive Sans"/>
              <a:buChar char="•"/>
              <a:defRPr sz="200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3"/>
          <p:cNvGrpSpPr/>
          <p:nvPr/>
        </p:nvGrpSpPr>
        <p:grpSpPr>
          <a:xfrm>
            <a:off x="8843821" y="6133405"/>
            <a:ext cx="9063180" cy="2974053"/>
            <a:chOff x="0" y="-3"/>
            <a:chExt cx="2387010" cy="161700"/>
          </a:xfrm>
        </p:grpSpPr>
        <p:sp>
          <p:nvSpPr>
            <p:cNvPr id="80" name="Google Shape;80;p13"/>
            <p:cNvSpPr/>
            <p:nvPr/>
          </p:nvSpPr>
          <p:spPr>
            <a:xfrm>
              <a:off x="0" y="0"/>
              <a:ext cx="2387010" cy="161597"/>
            </a:xfrm>
            <a:custGeom>
              <a:avLst/>
              <a:gdLst/>
              <a:ahLst/>
              <a:cxnLst/>
              <a:rect l="l" t="t" r="r" b="b"/>
              <a:pathLst>
                <a:path w="2387010" h="161597" extrusionOk="0">
                  <a:moveTo>
                    <a:pt x="8542" y="0"/>
                  </a:moveTo>
                  <a:lnTo>
                    <a:pt x="2378468" y="0"/>
                  </a:lnTo>
                  <a:cubicBezTo>
                    <a:pt x="2383186" y="0"/>
                    <a:pt x="2387010" y="3824"/>
                    <a:pt x="2387010" y="8542"/>
                  </a:cubicBezTo>
                  <a:lnTo>
                    <a:pt x="2387010" y="153055"/>
                  </a:lnTo>
                  <a:cubicBezTo>
                    <a:pt x="2387010" y="155320"/>
                    <a:pt x="2386110" y="157493"/>
                    <a:pt x="2384508" y="159095"/>
                  </a:cubicBezTo>
                  <a:cubicBezTo>
                    <a:pt x="2382906" y="160697"/>
                    <a:pt x="2380734" y="161597"/>
                    <a:pt x="2378468" y="161597"/>
                  </a:cubicBezTo>
                  <a:lnTo>
                    <a:pt x="8542" y="161597"/>
                  </a:lnTo>
                  <a:cubicBezTo>
                    <a:pt x="6277" y="161597"/>
                    <a:pt x="4104" y="160697"/>
                    <a:pt x="2502" y="159095"/>
                  </a:cubicBezTo>
                  <a:cubicBezTo>
                    <a:pt x="900" y="157493"/>
                    <a:pt x="0" y="155320"/>
                    <a:pt x="0" y="153055"/>
                  </a:cubicBezTo>
                  <a:lnTo>
                    <a:pt x="0" y="8542"/>
                  </a:lnTo>
                  <a:cubicBezTo>
                    <a:pt x="0" y="6277"/>
                    <a:pt x="900" y="4104"/>
                    <a:pt x="2502" y="2502"/>
                  </a:cubicBezTo>
                  <a:cubicBezTo>
                    <a:pt x="4104" y="900"/>
                    <a:pt x="6277" y="0"/>
                    <a:pt x="8542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 txBox="1"/>
            <p:nvPr/>
          </p:nvSpPr>
          <p:spPr>
            <a:xfrm>
              <a:off x="1" y="-3"/>
              <a:ext cx="2387009" cy="1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err="1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Oiaga</a:t>
              </a:r>
              <a: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 Lucas-Paul</a:t>
              </a:r>
              <a:b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</a:br>
              <a: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Botiz Alexandru-Gabriel</a:t>
              </a:r>
              <a:b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</a:br>
              <a:r>
                <a:rPr lang="en-US" sz="2400" dirty="0" err="1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Onofrei</a:t>
              </a:r>
              <a: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 Flavius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err="1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Șușman</a:t>
              </a:r>
              <a: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 Andrei-Alexandru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err="1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Miclău</a:t>
              </a:r>
              <a: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  <a:t> Nicolae</a:t>
              </a:r>
              <a:br>
                <a:rPr lang="en-US" sz="2400" dirty="0">
                  <a:solidFill>
                    <a:srgbClr val="F9F6FF"/>
                  </a:solidFill>
                  <a:latin typeface="Inclusive Sans"/>
                  <a:cs typeface="Inclusive Sans"/>
                  <a:sym typeface="Inclusive Sans"/>
                </a:rPr>
              </a:br>
              <a:endParaRPr lang="en-US" dirty="0"/>
            </a:p>
          </p:txBody>
        </p:sp>
      </p:grpSp>
      <p:sp>
        <p:nvSpPr>
          <p:cNvPr id="82" name="Google Shape;82;p13"/>
          <p:cNvSpPr txBox="1"/>
          <p:nvPr/>
        </p:nvSpPr>
        <p:spPr>
          <a:xfrm>
            <a:off x="8843820" y="2932529"/>
            <a:ext cx="9063300" cy="320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 dirty="0">
                <a:solidFill>
                  <a:srgbClr val="F9F6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Grading App PCD</a:t>
            </a:r>
            <a:endParaRPr lang="en-US" dirty="0"/>
          </a:p>
        </p:txBody>
      </p:sp>
      <p:sp>
        <p:nvSpPr>
          <p:cNvPr id="84" name="Google Shape;84;p13"/>
          <p:cNvSpPr txBox="1"/>
          <p:nvPr/>
        </p:nvSpPr>
        <p:spPr>
          <a:xfrm>
            <a:off x="16261882" y="9107459"/>
            <a:ext cx="16451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15.06.</a:t>
            </a:r>
            <a:r>
              <a:rPr lang="en-US" sz="21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2026</a:t>
            </a:r>
            <a:endParaRPr lang="en-US" dirty="0"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l="7201"/>
          <a:stretch/>
        </p:blipFill>
        <p:spPr>
          <a:xfrm>
            <a:off x="1" y="0"/>
            <a:ext cx="798060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075" y="-26750"/>
            <a:ext cx="18342149" cy="103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381000" y="4088130"/>
            <a:ext cx="712470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 dirty="0">
                <a:solidFill>
                  <a:srgbClr val="F9F6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Overview</a:t>
            </a:r>
            <a:endParaRPr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9962394" y="993865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 dirty="0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01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9962394" y="1857621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02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962394" y="2769401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03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962394" y="3681182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04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962394" y="4592938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05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962394" y="5417818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06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962394" y="6416504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07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962394" y="7328279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08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962394" y="8240060"/>
            <a:ext cx="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 dirty="0">
                <a:solidFill>
                  <a:srgbClr val="1B0D39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09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1309204" y="681451"/>
            <a:ext cx="6580559" cy="11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Prezentarea</a:t>
            </a:r>
            <a:r>
              <a:rPr lang="en-US" sz="36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</a:t>
            </a: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temei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1322852" y="1611423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Arhitectura</a:t>
            </a:r>
            <a:r>
              <a:rPr lang="en-US" sz="36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</a:t>
            </a: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proiectului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1309204" y="2472405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Serverul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1322852" y="3381520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Rolul</a:t>
            </a:r>
            <a:r>
              <a:rPr lang="en-US" sz="36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</a:t>
            </a: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firelor</a:t>
            </a:r>
            <a:r>
              <a:rPr lang="en-US" sz="36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 de </a:t>
            </a:r>
            <a:r>
              <a:rPr lang="en-US" sz="3600" dirty="0" err="1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Execuție</a:t>
            </a:r>
            <a:endParaRPr lang="en-US" sz="3600" dirty="0">
              <a:solidFill>
                <a:srgbClr val="F9F6FF"/>
              </a:solidFill>
              <a:latin typeface="Inclusive Sans"/>
              <a:cs typeface="Inclusive Sans"/>
              <a:sym typeface="Inclusive Sans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1322852" y="4263358"/>
            <a:ext cx="659779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Workflow-ul Aplicației Pasul 1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11295556" y="5138750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Workflow-</a:t>
            </a: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ul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Aplicației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Pasul 2</a:t>
            </a:r>
          </a:p>
        </p:txBody>
      </p:sp>
      <p:sp>
        <p:nvSpPr>
          <p:cNvPr id="108" name="Google Shape;108;p14"/>
          <p:cNvSpPr txBox="1"/>
          <p:nvPr/>
        </p:nvSpPr>
        <p:spPr>
          <a:xfrm>
            <a:off x="11322852" y="6077364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Workflow-</a:t>
            </a: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ul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Aplicației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Pasul 3</a:t>
            </a:r>
            <a:endParaRPr lang="en-US" sz="3600"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11295555" y="7032104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Oprirea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Sincronă</a:t>
            </a:r>
            <a:endParaRPr lang="en-US" sz="3600" b="0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1322852" y="7916451"/>
            <a:ext cx="659420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Final</a:t>
            </a:r>
            <a:endParaRPr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5"/>
          <p:cNvGrpSpPr/>
          <p:nvPr/>
        </p:nvGrpSpPr>
        <p:grpSpPr>
          <a:xfrm>
            <a:off x="0" y="-325486"/>
            <a:ext cx="18288000" cy="706486"/>
            <a:chOff x="0" y="-85725"/>
            <a:chExt cx="4816593" cy="186071"/>
          </a:xfrm>
        </p:grpSpPr>
        <p:sp>
          <p:nvSpPr>
            <p:cNvPr id="122" name="Google Shape;122;p15"/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0" y="-85725"/>
              <a:ext cx="4816593" cy="186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  <p:sp>
        <p:nvSpPr>
          <p:cNvPr id="7" name="Titlu 6">
            <a:extLst>
              <a:ext uri="{FF2B5EF4-FFF2-40B4-BE49-F238E27FC236}">
                <a16:creationId xmlns:a16="http://schemas.microsoft.com/office/drawing/2014/main" id="{4475FC7C-F7F5-2BEC-B873-43C9AD98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Prezentarea temei</a:t>
            </a:r>
            <a:br>
              <a:rPr lang="ro-RO" dirty="0"/>
            </a:br>
            <a:endParaRPr lang="ro-RO" dirty="0"/>
          </a:p>
        </p:txBody>
      </p:sp>
      <p:sp>
        <p:nvSpPr>
          <p:cNvPr id="8" name="Substituent text 7">
            <a:extLst>
              <a:ext uri="{FF2B5EF4-FFF2-40B4-BE49-F238E27FC236}">
                <a16:creationId xmlns:a16="http://schemas.microsoft.com/office/drawing/2014/main" id="{E5606ED5-60D8-0B22-A0E5-442A4A20E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9866" y="5143501"/>
            <a:ext cx="6434400" cy="3945908"/>
          </a:xfrm>
        </p:spPr>
        <p:txBody>
          <a:bodyPr>
            <a:noAutofit/>
          </a:bodyPr>
          <a:lstStyle/>
          <a:p>
            <a:r>
              <a:rPr lang="ro-RO" sz="2800" dirty="0"/>
              <a:t>Serverul detectează (</a:t>
            </a:r>
            <a:r>
              <a:rPr lang="ro-RO" sz="2800" dirty="0" err="1"/>
              <a:t>Image</a:t>
            </a:r>
            <a:r>
              <a:rPr lang="ro-RO" sz="2800" dirty="0"/>
              <a:t> </a:t>
            </a:r>
            <a:r>
              <a:rPr lang="ro-RO" sz="2800" dirty="0" err="1"/>
              <a:t>detection</a:t>
            </a:r>
            <a:r>
              <a:rPr lang="ro-RO" sz="2800" dirty="0"/>
              <a:t>) răspunsurile selectate de studenți</a:t>
            </a:r>
            <a:r>
              <a:rPr lang="en-US" sz="2800" dirty="0"/>
              <a:t>.</a:t>
            </a:r>
          </a:p>
          <a:p>
            <a:r>
              <a:rPr lang="en-US" sz="2800" dirty="0"/>
              <a:t>C</a:t>
            </a:r>
            <a:r>
              <a:rPr lang="ro-RO" sz="2800" dirty="0"/>
              <a:t>ompară răspunsurile studenți</a:t>
            </a:r>
            <a:r>
              <a:rPr lang="en-US" sz="2800" dirty="0"/>
              <a:t>lor </a:t>
            </a:r>
            <a:r>
              <a:rPr lang="ro-RO" sz="2800" dirty="0"/>
              <a:t>cu răspunsurile corecte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Adună</a:t>
            </a:r>
            <a:r>
              <a:rPr lang="en-US" sz="2800" dirty="0"/>
              <a:t> </a:t>
            </a:r>
            <a:r>
              <a:rPr lang="en-US" sz="2800" dirty="0" err="1"/>
              <a:t>valorile</a:t>
            </a:r>
            <a:r>
              <a:rPr lang="en-US" sz="2800" dirty="0"/>
              <a:t> </a:t>
            </a:r>
            <a:r>
              <a:rPr lang="en-US" sz="2800" dirty="0" err="1"/>
              <a:t>corecte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returnează</a:t>
            </a:r>
            <a:r>
              <a:rPr lang="en-US" sz="2800" dirty="0"/>
              <a:t> nota </a:t>
            </a:r>
            <a:r>
              <a:rPr lang="en-US" sz="2800" dirty="0" err="1"/>
              <a:t>finală</a:t>
            </a:r>
            <a:r>
              <a:rPr lang="en-US" sz="2800" dirty="0"/>
              <a:t> </a:t>
            </a:r>
            <a:r>
              <a:rPr lang="en-US" sz="2800" dirty="0" err="1"/>
              <a:t>obținută</a:t>
            </a:r>
            <a:r>
              <a:rPr lang="en-US" sz="2800" dirty="0"/>
              <a:t> la </a:t>
            </a:r>
            <a:r>
              <a:rPr lang="en-US" sz="2800" dirty="0" err="1"/>
              <a:t>testul</a:t>
            </a:r>
            <a:r>
              <a:rPr lang="en-US" sz="2800" dirty="0"/>
              <a:t> </a:t>
            </a:r>
            <a:r>
              <a:rPr lang="en-US" sz="2800" dirty="0" err="1"/>
              <a:t>grilă</a:t>
            </a:r>
            <a:r>
              <a:rPr lang="en-US" sz="2800" dirty="0"/>
              <a:t>.</a:t>
            </a:r>
          </a:p>
          <a:p>
            <a:endParaRPr lang="ro-RO" sz="2800" dirty="0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4FD99AF7-D264-BBC2-1971-4F73DC37E98B}"/>
              </a:ext>
            </a:extLst>
          </p:cNvPr>
          <p:cNvSpPr txBox="1"/>
          <p:nvPr/>
        </p:nvSpPr>
        <p:spPr>
          <a:xfrm>
            <a:off x="9751911" y="4078511"/>
            <a:ext cx="6202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dirty="0" err="1">
                <a:solidFill>
                  <a:schemeClr val="bg1"/>
                </a:solidFill>
              </a:rPr>
              <a:t>Grading</a:t>
            </a:r>
            <a:r>
              <a:rPr lang="ro-RO" sz="3600" dirty="0">
                <a:solidFill>
                  <a:schemeClr val="bg1"/>
                </a:solidFill>
              </a:rPr>
              <a:t> </a:t>
            </a:r>
            <a:r>
              <a:rPr lang="ro-RO" sz="3600" dirty="0" err="1">
                <a:solidFill>
                  <a:schemeClr val="bg1"/>
                </a:solidFill>
              </a:rPr>
              <a:t>App</a:t>
            </a:r>
            <a:r>
              <a:rPr lang="ro-RO" sz="3600" dirty="0">
                <a:solidFill>
                  <a:schemeClr val="bg1"/>
                </a:solidFill>
              </a:rPr>
              <a:t> (</a:t>
            </a:r>
            <a:r>
              <a:rPr lang="ro-RO" sz="3600" dirty="0" err="1">
                <a:solidFill>
                  <a:schemeClr val="bg1"/>
                </a:solidFill>
              </a:rPr>
              <a:t>ZipGrade</a:t>
            </a:r>
            <a:r>
              <a:rPr lang="ro-RO" sz="3600" dirty="0">
                <a:solidFill>
                  <a:schemeClr val="bg1"/>
                </a:solidFill>
              </a:rPr>
              <a:t> </a:t>
            </a:r>
            <a:r>
              <a:rPr lang="ro-RO" sz="3600" dirty="0" err="1">
                <a:solidFill>
                  <a:schemeClr val="bg1"/>
                </a:solidFill>
              </a:rPr>
              <a:t>Like</a:t>
            </a:r>
            <a:r>
              <a:rPr lang="ro-RO" sz="36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381000" y="381000"/>
            <a:ext cx="8001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A477FF"/>
                </a:solidFill>
                <a:latin typeface="Merriweather Sans Light"/>
                <a:sym typeface="Merriweather Sans Light"/>
              </a:rPr>
              <a:t>Arhitectura</a:t>
            </a:r>
            <a:r>
              <a:rPr lang="en-US" sz="5400" dirty="0">
                <a:solidFill>
                  <a:srgbClr val="A477FF"/>
                </a:solidFill>
                <a:latin typeface="Merriweather Sans Light"/>
                <a:sym typeface="Merriweather Sans Light"/>
              </a:rPr>
              <a:t> </a:t>
            </a:r>
            <a:r>
              <a:rPr lang="en-US" sz="5400" dirty="0" err="1">
                <a:solidFill>
                  <a:srgbClr val="A477FF"/>
                </a:solidFill>
                <a:latin typeface="Merriweather Sans Light"/>
                <a:sym typeface="Merriweather Sans Light"/>
              </a:rPr>
              <a:t>proiectului</a:t>
            </a:r>
            <a:endParaRPr sz="540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1757683" y="2399082"/>
            <a:ext cx="3537647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9F6FF"/>
                </a:solidFill>
                <a:latin typeface="Inclusive Sans"/>
                <a:cs typeface="Inclusive Sans"/>
                <a:sym typeface="Inclusive Sans"/>
              </a:rPr>
              <a:t>Server + Client</a:t>
            </a:r>
            <a:endParaRPr sz="400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381000" y="3903622"/>
            <a:ext cx="6593006" cy="31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8166" marR="0" lvl="1" indent="-2590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2400"/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Connection-per-Request</a:t>
            </a:r>
            <a:endParaRPr lang="en-US" sz="3600" b="1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518166" marR="0" lvl="1" indent="-2590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2400"/>
              <a:buFont typeface="Arial"/>
              <a:buChar char="•"/>
            </a:pPr>
            <a:r>
              <a:rPr lang="en-US" sz="36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Relație</a:t>
            </a:r>
            <a:r>
              <a:rPr lang="en-US" sz="36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1 to many</a:t>
            </a:r>
          </a:p>
          <a:p>
            <a:pPr marL="518166" marR="0" lvl="1" indent="-2590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2400"/>
              <a:buFont typeface="Arial"/>
              <a:buChar char="•"/>
            </a:pPr>
            <a:r>
              <a:rPr lang="en-US" sz="36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Multiplexare</a:t>
            </a:r>
            <a:r>
              <a:rPr lang="en-US" sz="36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cu poll()</a:t>
            </a:r>
            <a:endParaRPr sz="3600" dirty="0"/>
          </a:p>
          <a:p>
            <a:pPr marL="518166" marR="0" lvl="1" indent="-2590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2400"/>
              <a:buFont typeface="Arial"/>
              <a:buChar char="•"/>
            </a:pPr>
            <a:r>
              <a:rPr lang="it-IT" sz="36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</a:t>
            </a:r>
            <a:r>
              <a:rPr lang="it-IT" sz="36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rocesare decuplată prin coadă FIFO</a:t>
            </a:r>
            <a:endParaRPr sz="3600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D5A779-3B4C-F3AE-8871-2EC82A6F3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130" y="2399082"/>
            <a:ext cx="10652889" cy="5488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7"/>
          <p:cNvGrpSpPr/>
          <p:nvPr/>
        </p:nvGrpSpPr>
        <p:grpSpPr>
          <a:xfrm>
            <a:off x="2041841" y="3451739"/>
            <a:ext cx="5433373" cy="738383"/>
            <a:chOff x="0" y="0"/>
            <a:chExt cx="1431002" cy="194470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0"/>
              <a:ext cx="1430911" cy="194470"/>
            </a:xfrm>
            <a:custGeom>
              <a:avLst/>
              <a:gdLst/>
              <a:ahLst/>
              <a:cxnLst/>
              <a:rect l="l" t="t" r="r" b="b"/>
              <a:pathLst>
                <a:path w="1430911" h="194470" extrusionOk="0">
                  <a:moveTo>
                    <a:pt x="29925" y="0"/>
                  </a:moveTo>
                  <a:lnTo>
                    <a:pt x="1400986" y="0"/>
                  </a:lnTo>
                  <a:cubicBezTo>
                    <a:pt x="1408923" y="0"/>
                    <a:pt x="1416534" y="3153"/>
                    <a:pt x="1422146" y="8765"/>
                  </a:cubicBezTo>
                  <a:cubicBezTo>
                    <a:pt x="1427758" y="14377"/>
                    <a:pt x="1430911" y="21988"/>
                    <a:pt x="1430911" y="29925"/>
                  </a:cubicBezTo>
                  <a:lnTo>
                    <a:pt x="1430911" y="164545"/>
                  </a:lnTo>
                  <a:cubicBezTo>
                    <a:pt x="1430911" y="172482"/>
                    <a:pt x="1427758" y="180093"/>
                    <a:pt x="1422146" y="185705"/>
                  </a:cubicBezTo>
                  <a:cubicBezTo>
                    <a:pt x="1416534" y="191317"/>
                    <a:pt x="1408923" y="194470"/>
                    <a:pt x="1400986" y="194470"/>
                  </a:cubicBezTo>
                  <a:lnTo>
                    <a:pt x="29925" y="194470"/>
                  </a:lnTo>
                  <a:cubicBezTo>
                    <a:pt x="21988" y="194470"/>
                    <a:pt x="14377" y="191317"/>
                    <a:pt x="8765" y="185705"/>
                  </a:cubicBezTo>
                  <a:cubicBezTo>
                    <a:pt x="3153" y="180093"/>
                    <a:pt x="0" y="172482"/>
                    <a:pt x="0" y="164545"/>
                  </a:cubicBezTo>
                  <a:lnTo>
                    <a:pt x="0" y="29925"/>
                  </a:lnTo>
                  <a:cubicBezTo>
                    <a:pt x="0" y="21988"/>
                    <a:pt x="3153" y="14377"/>
                    <a:pt x="8765" y="8765"/>
                  </a:cubicBezTo>
                  <a:cubicBezTo>
                    <a:pt x="14377" y="3153"/>
                    <a:pt x="21988" y="0"/>
                    <a:pt x="29925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2" y="3"/>
              <a:ext cx="1431000" cy="1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Primul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pas</a:t>
              </a:r>
              <a:endParaRPr lang="en-US" dirty="0"/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10742158" y="3122067"/>
            <a:ext cx="5433329" cy="1483549"/>
            <a:chOff x="-1" y="0"/>
            <a:chExt cx="1431000" cy="19447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1430911" cy="194470"/>
            </a:xfrm>
            <a:custGeom>
              <a:avLst/>
              <a:gdLst/>
              <a:ahLst/>
              <a:cxnLst/>
              <a:rect l="l" t="t" r="r" b="b"/>
              <a:pathLst>
                <a:path w="1430911" h="194470" extrusionOk="0">
                  <a:moveTo>
                    <a:pt x="29925" y="0"/>
                  </a:moveTo>
                  <a:lnTo>
                    <a:pt x="1400986" y="0"/>
                  </a:lnTo>
                  <a:cubicBezTo>
                    <a:pt x="1408923" y="0"/>
                    <a:pt x="1416534" y="3153"/>
                    <a:pt x="1422146" y="8765"/>
                  </a:cubicBezTo>
                  <a:cubicBezTo>
                    <a:pt x="1427758" y="14377"/>
                    <a:pt x="1430911" y="21988"/>
                    <a:pt x="1430911" y="29925"/>
                  </a:cubicBezTo>
                  <a:lnTo>
                    <a:pt x="1430911" y="164545"/>
                  </a:lnTo>
                  <a:cubicBezTo>
                    <a:pt x="1430911" y="172482"/>
                    <a:pt x="1427758" y="180093"/>
                    <a:pt x="1422146" y="185705"/>
                  </a:cubicBezTo>
                  <a:cubicBezTo>
                    <a:pt x="1416534" y="191317"/>
                    <a:pt x="1408923" y="194470"/>
                    <a:pt x="1400986" y="194470"/>
                  </a:cubicBezTo>
                  <a:lnTo>
                    <a:pt x="29925" y="194470"/>
                  </a:lnTo>
                  <a:cubicBezTo>
                    <a:pt x="21988" y="194470"/>
                    <a:pt x="14377" y="191317"/>
                    <a:pt x="8765" y="185705"/>
                  </a:cubicBezTo>
                  <a:cubicBezTo>
                    <a:pt x="3153" y="180093"/>
                    <a:pt x="0" y="172482"/>
                    <a:pt x="0" y="164545"/>
                  </a:cubicBezTo>
                  <a:lnTo>
                    <a:pt x="0" y="29925"/>
                  </a:lnTo>
                  <a:cubicBezTo>
                    <a:pt x="0" y="21988"/>
                    <a:pt x="3153" y="14377"/>
                    <a:pt x="8765" y="8765"/>
                  </a:cubicBezTo>
                  <a:cubicBezTo>
                    <a:pt x="14377" y="3153"/>
                    <a:pt x="21988" y="0"/>
                    <a:pt x="29925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-1" y="8404"/>
              <a:ext cx="1431000" cy="1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Crearea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</a:t>
              </a: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Firelor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de </a:t>
              </a: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Execuție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(Threads)</a:t>
              </a:r>
              <a:endParaRPr lang="en-US" dirty="0"/>
            </a:p>
          </p:txBody>
        </p:sp>
      </p:grpSp>
      <p:cxnSp>
        <p:nvCxnSpPr>
          <p:cNvPr id="150" name="Google Shape;150;p17"/>
          <p:cNvCxnSpPr/>
          <p:nvPr/>
        </p:nvCxnSpPr>
        <p:spPr>
          <a:xfrm>
            <a:off x="3980494" y="5911504"/>
            <a:ext cx="1555685" cy="0"/>
          </a:xfrm>
          <a:prstGeom prst="straightConnector1">
            <a:avLst/>
          </a:prstGeom>
          <a:noFill/>
          <a:ln w="9525" cap="flat" cmpd="sng">
            <a:solidFill>
              <a:srgbClr val="F9F6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12680981" y="5528834"/>
            <a:ext cx="1555685" cy="0"/>
          </a:xfrm>
          <a:prstGeom prst="straightConnector1">
            <a:avLst/>
          </a:prstGeom>
          <a:noFill/>
          <a:ln w="9525" cap="flat" cmpd="sng">
            <a:solidFill>
              <a:srgbClr val="F9F6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12739304" y="6831353"/>
            <a:ext cx="1555685" cy="0"/>
          </a:xfrm>
          <a:prstGeom prst="straightConnector1">
            <a:avLst/>
          </a:prstGeom>
          <a:noFill/>
          <a:ln w="9525" cap="flat" cmpd="sng">
            <a:solidFill>
              <a:srgbClr val="F9F6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17"/>
          <p:cNvCxnSpPr/>
          <p:nvPr/>
        </p:nvCxnSpPr>
        <p:spPr>
          <a:xfrm rot="10800000">
            <a:off x="9144000" y="3451739"/>
            <a:ext cx="0" cy="5235790"/>
          </a:xfrm>
          <a:prstGeom prst="straightConnector1">
            <a:avLst/>
          </a:prstGeom>
          <a:noFill/>
          <a:ln w="9525" cap="flat" cmpd="sng">
            <a:solidFill>
              <a:srgbClr val="F9F6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17"/>
          <p:cNvSpPr txBox="1"/>
          <p:nvPr/>
        </p:nvSpPr>
        <p:spPr>
          <a:xfrm>
            <a:off x="2283456" y="4731104"/>
            <a:ext cx="4949759" cy="107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Asteapta ca clientul sa trimita baremul si poza </a:t>
            </a:r>
            <a:endParaRPr lang="en-US" dirty="0"/>
          </a:p>
        </p:txBody>
      </p:sp>
      <p:grpSp>
        <p:nvGrpSpPr>
          <p:cNvPr id="156" name="Google Shape;156;p17"/>
          <p:cNvGrpSpPr/>
          <p:nvPr/>
        </p:nvGrpSpPr>
        <p:grpSpPr>
          <a:xfrm>
            <a:off x="1028700" y="902849"/>
            <a:ext cx="16230600" cy="1682986"/>
            <a:chOff x="0" y="0"/>
            <a:chExt cx="21640800" cy="2243980"/>
          </a:xfrm>
        </p:grpSpPr>
        <p:sp>
          <p:nvSpPr>
            <p:cNvPr id="157" name="Google Shape;157;p17"/>
            <p:cNvSpPr txBox="1"/>
            <p:nvPr/>
          </p:nvSpPr>
          <p:spPr>
            <a:xfrm>
              <a:off x="0" y="0"/>
              <a:ext cx="21640800" cy="1575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00" b="0" i="0" u="none" strike="noStrike" cap="none" dirty="0" err="1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Serverul</a:t>
              </a:r>
              <a:endParaRPr dirty="0"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0" y="1550458"/>
              <a:ext cx="21640800" cy="693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Inițializarea</a:t>
              </a:r>
              <a:endParaRPr lang="en-US" sz="1200" dirty="0"/>
            </a:p>
          </p:txBody>
        </p:sp>
      </p:grpSp>
      <p:sp>
        <p:nvSpPr>
          <p:cNvPr id="159" name="Google Shape;159;p17"/>
          <p:cNvSpPr txBox="1"/>
          <p:nvPr/>
        </p:nvSpPr>
        <p:spPr>
          <a:xfrm>
            <a:off x="2386513" y="6123224"/>
            <a:ext cx="4743643" cy="107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Pregatire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coada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FIFO, mutex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si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variabila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conditie</a:t>
            </a:r>
            <a:endParaRPr lang="en-US"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10359034" y="4799687"/>
            <a:ext cx="6199578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t_i: Firul INET (Rețea)</a:t>
            </a:r>
            <a:endParaRPr lang="en-US"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10954007" y="5528834"/>
            <a:ext cx="5126277" cy="107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t_w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Firul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Worker (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Procesare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Optică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)</a:t>
            </a:r>
            <a:endParaRPr lang="en-US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10895685" y="6849927"/>
            <a:ext cx="5242922" cy="107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t_a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</a:t>
            </a:r>
            <a:r>
              <a:rPr lang="en-US" sz="24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Firul</a:t>
            </a:r>
            <a:r>
              <a:rPr lang="en-US" sz="24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Admin (Management Local)</a:t>
            </a:r>
            <a:endParaRPr lang="en-US"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  <p:grpSp>
        <p:nvGrpSpPr>
          <p:cNvPr id="165" name="Google Shape;165;p17"/>
          <p:cNvGrpSpPr/>
          <p:nvPr/>
        </p:nvGrpSpPr>
        <p:grpSpPr>
          <a:xfrm>
            <a:off x="0" y="-325486"/>
            <a:ext cx="18288000" cy="706486"/>
            <a:chOff x="0" y="-85725"/>
            <a:chExt cx="4816593" cy="186071"/>
          </a:xfrm>
        </p:grpSpPr>
        <p:sp>
          <p:nvSpPr>
            <p:cNvPr id="166" name="Google Shape;166;p17"/>
            <p:cNvSpPr/>
            <p:nvPr/>
          </p:nvSpPr>
          <p:spPr>
            <a:xfrm>
              <a:off x="0" y="0"/>
              <a:ext cx="4816592" cy="100346"/>
            </a:xfrm>
            <a:custGeom>
              <a:avLst/>
              <a:gdLst/>
              <a:ahLst/>
              <a:cxnLst/>
              <a:rect l="l" t="t" r="r" b="b"/>
              <a:pathLst>
                <a:path w="4816592" h="10034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0346"/>
                  </a:lnTo>
                  <a:lnTo>
                    <a:pt x="0" y="100346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0" y="-85725"/>
              <a:ext cx="4816593" cy="186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" name="Google Shape;153;p17">
            <a:extLst>
              <a:ext uri="{FF2B5EF4-FFF2-40B4-BE49-F238E27FC236}">
                <a16:creationId xmlns:a16="http://schemas.microsoft.com/office/drawing/2014/main" id="{76BA5449-A5C4-2B55-B075-8C5198B106EA}"/>
              </a:ext>
            </a:extLst>
          </p:cNvPr>
          <p:cNvCxnSpPr/>
          <p:nvPr/>
        </p:nvCxnSpPr>
        <p:spPr>
          <a:xfrm>
            <a:off x="12739304" y="8083714"/>
            <a:ext cx="1555685" cy="0"/>
          </a:xfrm>
          <a:prstGeom prst="straightConnector1">
            <a:avLst/>
          </a:prstGeom>
          <a:noFill/>
          <a:ln w="9525" cap="flat" cmpd="sng">
            <a:solidFill>
              <a:srgbClr val="F9F6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asetăText 3">
            <a:extLst>
              <a:ext uri="{FF2B5EF4-FFF2-40B4-BE49-F238E27FC236}">
                <a16:creationId xmlns:a16="http://schemas.microsoft.com/office/drawing/2014/main" id="{4B04F57D-F28C-2BFE-48E8-6BDE00C51D8E}"/>
              </a:ext>
            </a:extLst>
          </p:cNvPr>
          <p:cNvSpPr txBox="1"/>
          <p:nvPr/>
        </p:nvSpPr>
        <p:spPr>
          <a:xfrm>
            <a:off x="10895685" y="8323766"/>
            <a:ext cx="562044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500" dirty="0" err="1">
                <a:solidFill>
                  <a:schemeClr val="bg1"/>
                </a:solidFill>
              </a:rPr>
              <a:t>t_n</a:t>
            </a:r>
            <a:r>
              <a:rPr lang="ro-RO" sz="2500" dirty="0">
                <a:solidFill>
                  <a:schemeClr val="bg1"/>
                </a:solidFill>
              </a:rPr>
              <a:t>: Firul </a:t>
            </a:r>
            <a:r>
              <a:rPr lang="ro-RO" sz="2500" dirty="0" err="1">
                <a:solidFill>
                  <a:schemeClr val="bg1"/>
                </a:solidFill>
              </a:rPr>
              <a:t>INotify</a:t>
            </a:r>
            <a:r>
              <a:rPr lang="ro-RO" sz="2500" dirty="0">
                <a:solidFill>
                  <a:schemeClr val="bg1"/>
                </a:solidFill>
              </a:rPr>
              <a:t> (Monitorizare </a:t>
            </a:r>
            <a:r>
              <a:rPr lang="ro-RO" sz="2500" dirty="0" err="1">
                <a:solidFill>
                  <a:schemeClr val="bg1"/>
                </a:solidFill>
              </a:rPr>
              <a:t>Kernel</a:t>
            </a:r>
            <a:r>
              <a:rPr lang="ro-RO" sz="25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8"/>
          <p:cNvGrpSpPr/>
          <p:nvPr/>
        </p:nvGrpSpPr>
        <p:grpSpPr>
          <a:xfrm>
            <a:off x="7553325" y="238879"/>
            <a:ext cx="10353675" cy="2095471"/>
            <a:chOff x="0" y="-38100"/>
            <a:chExt cx="2726894" cy="551894"/>
          </a:xfrm>
        </p:grpSpPr>
        <p:sp>
          <p:nvSpPr>
            <p:cNvPr id="173" name="Google Shape;173;p18"/>
            <p:cNvSpPr/>
            <p:nvPr/>
          </p:nvSpPr>
          <p:spPr>
            <a:xfrm>
              <a:off x="0" y="0"/>
              <a:ext cx="2726894" cy="513794"/>
            </a:xfrm>
            <a:custGeom>
              <a:avLst/>
              <a:gdLst/>
              <a:ahLst/>
              <a:cxnLst/>
              <a:rect l="l" t="t" r="r" b="b"/>
              <a:pathLst>
                <a:path w="2726894" h="513794" extrusionOk="0">
                  <a:moveTo>
                    <a:pt x="14955" y="0"/>
                  </a:moveTo>
                  <a:lnTo>
                    <a:pt x="2711939" y="0"/>
                  </a:lnTo>
                  <a:cubicBezTo>
                    <a:pt x="2720198" y="0"/>
                    <a:pt x="2726894" y="6696"/>
                    <a:pt x="2726894" y="14955"/>
                  </a:cubicBezTo>
                  <a:lnTo>
                    <a:pt x="2726894" y="498839"/>
                  </a:lnTo>
                  <a:cubicBezTo>
                    <a:pt x="2726894" y="507098"/>
                    <a:pt x="2720198" y="513794"/>
                    <a:pt x="2711939" y="513794"/>
                  </a:cubicBezTo>
                  <a:lnTo>
                    <a:pt x="14955" y="513794"/>
                  </a:lnTo>
                  <a:cubicBezTo>
                    <a:pt x="6696" y="513794"/>
                    <a:pt x="0" y="507098"/>
                    <a:pt x="0" y="498839"/>
                  </a:cubicBezTo>
                  <a:lnTo>
                    <a:pt x="0" y="14955"/>
                  </a:lnTo>
                  <a:cubicBezTo>
                    <a:pt x="0" y="6696"/>
                    <a:pt x="6696" y="0"/>
                    <a:pt x="14955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0" y="-38100"/>
              <a:ext cx="2726894" cy="551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7553325" y="2762762"/>
            <a:ext cx="10353675" cy="2095471"/>
            <a:chOff x="0" y="-38100"/>
            <a:chExt cx="2726894" cy="551894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2726894" cy="513794"/>
            </a:xfrm>
            <a:custGeom>
              <a:avLst/>
              <a:gdLst/>
              <a:ahLst/>
              <a:cxnLst/>
              <a:rect l="l" t="t" r="r" b="b"/>
              <a:pathLst>
                <a:path w="2726894" h="513794" extrusionOk="0">
                  <a:moveTo>
                    <a:pt x="14955" y="0"/>
                  </a:moveTo>
                  <a:lnTo>
                    <a:pt x="2711939" y="0"/>
                  </a:lnTo>
                  <a:cubicBezTo>
                    <a:pt x="2720198" y="0"/>
                    <a:pt x="2726894" y="6696"/>
                    <a:pt x="2726894" y="14955"/>
                  </a:cubicBezTo>
                  <a:lnTo>
                    <a:pt x="2726894" y="498839"/>
                  </a:lnTo>
                  <a:cubicBezTo>
                    <a:pt x="2726894" y="507098"/>
                    <a:pt x="2720198" y="513794"/>
                    <a:pt x="2711939" y="513794"/>
                  </a:cubicBezTo>
                  <a:lnTo>
                    <a:pt x="14955" y="513794"/>
                  </a:lnTo>
                  <a:cubicBezTo>
                    <a:pt x="6696" y="513794"/>
                    <a:pt x="0" y="507098"/>
                    <a:pt x="0" y="498839"/>
                  </a:cubicBezTo>
                  <a:lnTo>
                    <a:pt x="0" y="14955"/>
                  </a:lnTo>
                  <a:cubicBezTo>
                    <a:pt x="0" y="6696"/>
                    <a:pt x="6696" y="0"/>
                    <a:pt x="14955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0" y="-38100"/>
              <a:ext cx="2726894" cy="551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7553325" y="5286646"/>
            <a:ext cx="10353675" cy="2095471"/>
            <a:chOff x="0" y="-38100"/>
            <a:chExt cx="2726894" cy="551894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2726894" cy="513794"/>
            </a:xfrm>
            <a:custGeom>
              <a:avLst/>
              <a:gdLst/>
              <a:ahLst/>
              <a:cxnLst/>
              <a:rect l="l" t="t" r="r" b="b"/>
              <a:pathLst>
                <a:path w="2726894" h="513794" extrusionOk="0">
                  <a:moveTo>
                    <a:pt x="14955" y="0"/>
                  </a:moveTo>
                  <a:lnTo>
                    <a:pt x="2711939" y="0"/>
                  </a:lnTo>
                  <a:cubicBezTo>
                    <a:pt x="2720198" y="0"/>
                    <a:pt x="2726894" y="6696"/>
                    <a:pt x="2726894" y="14955"/>
                  </a:cubicBezTo>
                  <a:lnTo>
                    <a:pt x="2726894" y="498839"/>
                  </a:lnTo>
                  <a:cubicBezTo>
                    <a:pt x="2726894" y="507098"/>
                    <a:pt x="2720198" y="513794"/>
                    <a:pt x="2711939" y="513794"/>
                  </a:cubicBezTo>
                  <a:lnTo>
                    <a:pt x="14955" y="513794"/>
                  </a:lnTo>
                  <a:cubicBezTo>
                    <a:pt x="6696" y="513794"/>
                    <a:pt x="0" y="507098"/>
                    <a:pt x="0" y="498839"/>
                  </a:cubicBezTo>
                  <a:lnTo>
                    <a:pt x="0" y="14955"/>
                  </a:lnTo>
                  <a:cubicBezTo>
                    <a:pt x="0" y="6696"/>
                    <a:pt x="6696" y="0"/>
                    <a:pt x="14955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0" y="-38100"/>
              <a:ext cx="2726894" cy="551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1" name="Google Shape;181;p18"/>
          <p:cNvCxnSpPr/>
          <p:nvPr/>
        </p:nvCxnSpPr>
        <p:spPr>
          <a:xfrm>
            <a:off x="8848690" y="4858234"/>
            <a:ext cx="0" cy="666284"/>
          </a:xfrm>
          <a:prstGeom prst="straightConnector1">
            <a:avLst/>
          </a:prstGeom>
          <a:noFill/>
          <a:ln w="28575" cap="rnd" cmpd="sng">
            <a:solidFill>
              <a:srgbClr val="F9F6F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82" name="Google Shape;182;p18"/>
          <p:cNvGrpSpPr/>
          <p:nvPr/>
        </p:nvGrpSpPr>
        <p:grpSpPr>
          <a:xfrm>
            <a:off x="7553325" y="7810529"/>
            <a:ext cx="10353675" cy="2095471"/>
            <a:chOff x="0" y="-38100"/>
            <a:chExt cx="2726894" cy="551894"/>
          </a:xfrm>
        </p:grpSpPr>
        <p:sp>
          <p:nvSpPr>
            <p:cNvPr id="183" name="Google Shape;183;p18"/>
            <p:cNvSpPr/>
            <p:nvPr/>
          </p:nvSpPr>
          <p:spPr>
            <a:xfrm>
              <a:off x="0" y="0"/>
              <a:ext cx="2726894" cy="513794"/>
            </a:xfrm>
            <a:custGeom>
              <a:avLst/>
              <a:gdLst/>
              <a:ahLst/>
              <a:cxnLst/>
              <a:rect l="l" t="t" r="r" b="b"/>
              <a:pathLst>
                <a:path w="2726894" h="513794" extrusionOk="0">
                  <a:moveTo>
                    <a:pt x="14955" y="0"/>
                  </a:moveTo>
                  <a:lnTo>
                    <a:pt x="2711939" y="0"/>
                  </a:lnTo>
                  <a:cubicBezTo>
                    <a:pt x="2720198" y="0"/>
                    <a:pt x="2726894" y="6696"/>
                    <a:pt x="2726894" y="14955"/>
                  </a:cubicBezTo>
                  <a:lnTo>
                    <a:pt x="2726894" y="498839"/>
                  </a:lnTo>
                  <a:cubicBezTo>
                    <a:pt x="2726894" y="507098"/>
                    <a:pt x="2720198" y="513794"/>
                    <a:pt x="2711939" y="513794"/>
                  </a:cubicBezTo>
                  <a:lnTo>
                    <a:pt x="14955" y="513794"/>
                  </a:lnTo>
                  <a:cubicBezTo>
                    <a:pt x="6696" y="513794"/>
                    <a:pt x="0" y="507098"/>
                    <a:pt x="0" y="498839"/>
                  </a:cubicBezTo>
                  <a:lnTo>
                    <a:pt x="0" y="14955"/>
                  </a:lnTo>
                  <a:cubicBezTo>
                    <a:pt x="0" y="6696"/>
                    <a:pt x="6696" y="0"/>
                    <a:pt x="14955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0" y="-38100"/>
              <a:ext cx="2726894" cy="551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5" name="Google Shape;185;p18"/>
          <p:cNvCxnSpPr/>
          <p:nvPr/>
        </p:nvCxnSpPr>
        <p:spPr>
          <a:xfrm>
            <a:off x="8834403" y="2334339"/>
            <a:ext cx="0" cy="666284"/>
          </a:xfrm>
          <a:prstGeom prst="straightConnector1">
            <a:avLst/>
          </a:prstGeom>
          <a:noFill/>
          <a:ln w="28575" cap="rnd" cmpd="sng">
            <a:solidFill>
              <a:srgbClr val="F9F6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6" name="Google Shape;186;p18"/>
          <p:cNvCxnSpPr/>
          <p:nvPr/>
        </p:nvCxnSpPr>
        <p:spPr>
          <a:xfrm>
            <a:off x="8834403" y="7382117"/>
            <a:ext cx="0" cy="666284"/>
          </a:xfrm>
          <a:prstGeom prst="straightConnector1">
            <a:avLst/>
          </a:prstGeom>
          <a:noFill/>
          <a:ln w="28575" cap="rnd" cmpd="sng">
            <a:solidFill>
              <a:srgbClr val="F9F6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7" name="Google Shape;187;p18"/>
          <p:cNvSpPr/>
          <p:nvPr/>
        </p:nvSpPr>
        <p:spPr>
          <a:xfrm>
            <a:off x="274320" y="3008808"/>
            <a:ext cx="5152458" cy="6795808"/>
          </a:xfrm>
          <a:custGeom>
            <a:avLst/>
            <a:gdLst/>
            <a:ahLst/>
            <a:cxnLst/>
            <a:rect l="l" t="t" r="r" b="b"/>
            <a:pathLst>
              <a:path w="5152458" h="6795808" extrusionOk="0">
                <a:moveTo>
                  <a:pt x="0" y="0"/>
                </a:moveTo>
                <a:lnTo>
                  <a:pt x="5152458" y="0"/>
                </a:lnTo>
                <a:lnTo>
                  <a:pt x="5152458" y="6795808"/>
                </a:lnTo>
                <a:lnTo>
                  <a:pt x="0" y="6795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o-RO"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381000" y="676660"/>
            <a:ext cx="5448375" cy="2410848"/>
            <a:chOff x="0" y="390826"/>
            <a:chExt cx="7264500" cy="3214465"/>
          </a:xfrm>
        </p:grpSpPr>
        <p:sp>
          <p:nvSpPr>
            <p:cNvPr id="189" name="Google Shape;189;p18"/>
            <p:cNvSpPr txBox="1"/>
            <p:nvPr/>
          </p:nvSpPr>
          <p:spPr>
            <a:xfrm>
              <a:off x="0" y="390826"/>
              <a:ext cx="7264500" cy="2100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399" b="0" i="0" u="none" strike="noStrike" cap="none" dirty="0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Rolul firelor de Execuție</a:t>
              </a:r>
              <a:endParaRPr lang="en-US" sz="6399" b="0" i="0" u="none" strike="noStrike" cap="none" dirty="0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0" y="3274944"/>
              <a:ext cx="7264500" cy="330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1" name="Google Shape;191;p18"/>
          <p:cNvSpPr txBox="1"/>
          <p:nvPr/>
        </p:nvSpPr>
        <p:spPr>
          <a:xfrm>
            <a:off x="10115591" y="689360"/>
            <a:ext cx="71724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Folosește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poll()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asculta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asincron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până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la 64 de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clienți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Primește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fișierele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binare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și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le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pune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în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coadă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lang="en-US" sz="2400"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10220085" y="3128975"/>
            <a:ext cx="71724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"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Muncitorul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".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Stă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adormit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până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apare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test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în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coadă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Execută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biblioteca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OpenCV,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calculează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nota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și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răspunsul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înapoi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la client.</a:t>
            </a:r>
            <a:endParaRPr lang="en-US" sz="2400"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7763853" y="783559"/>
            <a:ext cx="2141100" cy="115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INET Thread (Port 9090)</a:t>
            </a:r>
            <a:endParaRPr lang="en-US" sz="2400"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7778140" y="3034815"/>
            <a:ext cx="2141100" cy="173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Worker Thread (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Procesare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)</a:t>
            </a:r>
            <a:endParaRPr lang="en-US" sz="2400" dirty="0"/>
          </a:p>
        </p:txBody>
      </p:sp>
      <p:sp>
        <p:nvSpPr>
          <p:cNvPr id="195" name="Google Shape;195;p18"/>
          <p:cNvSpPr txBox="1"/>
          <p:nvPr/>
        </p:nvSpPr>
        <p:spPr>
          <a:xfrm>
            <a:off x="10319814" y="5642758"/>
            <a:ext cx="71723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Ascultă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pe /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tmp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/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omr_admin.sock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comenzile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la administrator (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nc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-U)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generare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rapoarte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și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oprire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urgență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lang="en-US" sz="2400"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7763853" y="5754543"/>
            <a:ext cx="2141100" cy="115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Admin Thread (Socket UNIX)</a:t>
            </a:r>
            <a:endParaRPr lang="en-US" sz="2400" dirty="0"/>
          </a:p>
        </p:txBody>
      </p:sp>
      <p:sp>
        <p:nvSpPr>
          <p:cNvPr id="197" name="Google Shape;197;p18"/>
          <p:cNvSpPr txBox="1"/>
          <p:nvPr/>
        </p:nvSpPr>
        <p:spPr>
          <a:xfrm>
            <a:off x="10319814" y="8141709"/>
            <a:ext cx="71723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Interacționează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direct cu Kernel-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ul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Linux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loga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în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consolă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crearea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și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modificarea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fișierelor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temporare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către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clienți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lang="en-US" sz="2400"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7763853" y="7988474"/>
            <a:ext cx="2141100" cy="173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INotify</a:t>
            </a:r>
            <a:r>
              <a:rPr lang="en-US" sz="36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Thread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0"/>
          <p:cNvGrpSpPr/>
          <p:nvPr/>
        </p:nvGrpSpPr>
        <p:grpSpPr>
          <a:xfrm>
            <a:off x="371475" y="2691309"/>
            <a:ext cx="5448300" cy="6033591"/>
            <a:chOff x="0" y="-57150"/>
            <a:chExt cx="1434943" cy="1589094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1434943" cy="1531944"/>
            </a:xfrm>
            <a:custGeom>
              <a:avLst/>
              <a:gdLst/>
              <a:ahLst/>
              <a:cxnLst/>
              <a:rect l="l" t="t" r="r" b="b"/>
              <a:pathLst>
                <a:path w="1434943" h="1531944" extrusionOk="0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503525"/>
                  </a:lnTo>
                  <a:cubicBezTo>
                    <a:pt x="1434943" y="1519220"/>
                    <a:pt x="1422219" y="1531944"/>
                    <a:pt x="1406524" y="1531944"/>
                  </a:cubicBezTo>
                  <a:lnTo>
                    <a:pt x="28420" y="1531944"/>
                  </a:lnTo>
                  <a:cubicBezTo>
                    <a:pt x="12724" y="1531944"/>
                    <a:pt x="0" y="1519220"/>
                    <a:pt x="0" y="150352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0" y="-57150"/>
              <a:ext cx="1434943" cy="1589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6424612" y="2691309"/>
            <a:ext cx="5438775" cy="6033591"/>
            <a:chOff x="0" y="-57150"/>
            <a:chExt cx="1432435" cy="1589094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1432435" cy="1531944"/>
            </a:xfrm>
            <a:custGeom>
              <a:avLst/>
              <a:gdLst/>
              <a:ahLst/>
              <a:cxnLst/>
              <a:rect l="l" t="t" r="r" b="b"/>
              <a:pathLst>
                <a:path w="1432435" h="1531944" extrusionOk="0">
                  <a:moveTo>
                    <a:pt x="28469" y="0"/>
                  </a:moveTo>
                  <a:lnTo>
                    <a:pt x="1403965" y="0"/>
                  </a:lnTo>
                  <a:cubicBezTo>
                    <a:pt x="1411516" y="0"/>
                    <a:pt x="1418757" y="2999"/>
                    <a:pt x="1424096" y="8338"/>
                  </a:cubicBezTo>
                  <a:cubicBezTo>
                    <a:pt x="1429435" y="13678"/>
                    <a:pt x="1432435" y="20919"/>
                    <a:pt x="1432435" y="28469"/>
                  </a:cubicBezTo>
                  <a:lnTo>
                    <a:pt x="1432435" y="1503475"/>
                  </a:lnTo>
                  <a:cubicBezTo>
                    <a:pt x="1432435" y="1511025"/>
                    <a:pt x="1429435" y="1518267"/>
                    <a:pt x="1424096" y="1523606"/>
                  </a:cubicBezTo>
                  <a:cubicBezTo>
                    <a:pt x="1418757" y="1528945"/>
                    <a:pt x="1411516" y="1531944"/>
                    <a:pt x="1403965" y="1531944"/>
                  </a:cubicBezTo>
                  <a:lnTo>
                    <a:pt x="28469" y="1531944"/>
                  </a:lnTo>
                  <a:cubicBezTo>
                    <a:pt x="12746" y="1531944"/>
                    <a:pt x="0" y="1519198"/>
                    <a:pt x="0" y="1503475"/>
                  </a:cubicBezTo>
                  <a:lnTo>
                    <a:pt x="0" y="28469"/>
                  </a:lnTo>
                  <a:cubicBezTo>
                    <a:pt x="0" y="20919"/>
                    <a:pt x="2999" y="13678"/>
                    <a:pt x="8338" y="8338"/>
                  </a:cubicBezTo>
                  <a:cubicBezTo>
                    <a:pt x="13678" y="2999"/>
                    <a:pt x="20919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0" y="-57150"/>
              <a:ext cx="1432435" cy="1589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12458700" y="2691309"/>
            <a:ext cx="5448300" cy="6033591"/>
            <a:chOff x="0" y="-57150"/>
            <a:chExt cx="1434943" cy="1589094"/>
          </a:xfrm>
        </p:grpSpPr>
        <p:sp>
          <p:nvSpPr>
            <p:cNvPr id="221" name="Google Shape;221;p20"/>
            <p:cNvSpPr/>
            <p:nvPr/>
          </p:nvSpPr>
          <p:spPr>
            <a:xfrm>
              <a:off x="0" y="0"/>
              <a:ext cx="1434943" cy="1531944"/>
            </a:xfrm>
            <a:custGeom>
              <a:avLst/>
              <a:gdLst/>
              <a:ahLst/>
              <a:cxnLst/>
              <a:rect l="l" t="t" r="r" b="b"/>
              <a:pathLst>
                <a:path w="1434943" h="1531944" extrusionOk="0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503525"/>
                  </a:lnTo>
                  <a:cubicBezTo>
                    <a:pt x="1434943" y="1519220"/>
                    <a:pt x="1422219" y="1531944"/>
                    <a:pt x="1406524" y="1531944"/>
                  </a:cubicBezTo>
                  <a:lnTo>
                    <a:pt x="28420" y="1531944"/>
                  </a:lnTo>
                  <a:cubicBezTo>
                    <a:pt x="12724" y="1531944"/>
                    <a:pt x="0" y="1519220"/>
                    <a:pt x="0" y="150352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FFFFFF">
                    <a:alpha val="1137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0" y="-57150"/>
              <a:ext cx="1434943" cy="1589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20"/>
          <p:cNvSpPr txBox="1"/>
          <p:nvPr/>
        </p:nvSpPr>
        <p:spPr>
          <a:xfrm>
            <a:off x="689218" y="3639845"/>
            <a:ext cx="4854600" cy="413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Deschide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conexiunea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protocolul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binar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(Header-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ul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"OMR" +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dimensiunea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fișierului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)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b="0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poi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folosește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funcția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sendfile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()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pompa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imaginea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lang="en-US" sz="2400" dirty="0"/>
          </a:p>
        </p:txBody>
      </p:sp>
      <p:sp>
        <p:nvSpPr>
          <p:cNvPr id="275" name="Google Shape;275;p20"/>
          <p:cNvSpPr txBox="1"/>
          <p:nvPr/>
        </p:nvSpPr>
        <p:spPr>
          <a:xfrm>
            <a:off x="6728747" y="3636434"/>
            <a:ext cx="4823400" cy="361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Prinde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conexiunea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8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prin</a:t>
            </a:r>
            <a:r>
              <a:rPr lang="en-US" sz="28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poll()</a:t>
            </a: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F9F6FF"/>
              </a:solidFill>
              <a:latin typeface="Inclusive Sans"/>
              <a:cs typeface="Inclusive Sans"/>
              <a:sym typeface="Inclusive Sans"/>
            </a:endParaRP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800" dirty="0" err="1">
                <a:solidFill>
                  <a:schemeClr val="bg1"/>
                </a:solidFill>
              </a:rPr>
              <a:t>Salvează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imaginea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temporar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în</a:t>
            </a:r>
            <a:r>
              <a:rPr lang="en-US" sz="2800" dirty="0">
                <a:solidFill>
                  <a:schemeClr val="bg1"/>
                </a:solidFill>
              </a:rPr>
              <a:t> /</a:t>
            </a:r>
            <a:r>
              <a:rPr lang="en-US" sz="2800" dirty="0" err="1">
                <a:solidFill>
                  <a:schemeClr val="bg1"/>
                </a:solidFill>
              </a:rPr>
              <a:t>tmp</a:t>
            </a:r>
            <a:r>
              <a:rPr lang="en-US" sz="2800" dirty="0">
                <a:solidFill>
                  <a:schemeClr val="bg1"/>
                </a:solidFill>
              </a:rPr>
              <a:t>/</a:t>
            </a:r>
            <a:r>
              <a:rPr lang="en-US" sz="2800" dirty="0" err="1">
                <a:solidFill>
                  <a:schemeClr val="bg1"/>
                </a:solidFill>
              </a:rPr>
              <a:t>omr_recv</a:t>
            </a:r>
            <a:r>
              <a:rPr lang="en-US" sz="2800" dirty="0">
                <a:solidFill>
                  <a:schemeClr val="bg1"/>
                </a:solidFill>
              </a:rPr>
              <a:t>_...</a:t>
            </a:r>
            <a:r>
              <a:rPr lang="en-US" sz="2800" dirty="0" err="1">
                <a:solidFill>
                  <a:schemeClr val="bg1"/>
                </a:solidFill>
              </a:rPr>
              <a:t>png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12766950" y="3276084"/>
            <a:ext cx="48318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 panose="020B0604020202020204" charset="0"/>
                <a:ea typeface="Inclusive Sans"/>
                <a:cs typeface="Inclusive Sans" panose="020B0604020202020204" charset="0"/>
                <a:sym typeface="Inclusive Sans"/>
              </a:rPr>
              <a:t>INET Thread 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 panose="020B0604020202020204" charset="0"/>
                <a:ea typeface="Inclusive Sans"/>
                <a:cs typeface="Inclusive Sans" panose="020B0604020202020204" charset="0"/>
                <a:sym typeface="Inclusive Sans"/>
              </a:rPr>
              <a:t>blochează</a:t>
            </a:r>
            <a:r>
              <a:rPr lang="en-US" sz="2400" b="0" i="0" u="none" strike="noStrike" cap="none" dirty="0">
                <a:solidFill>
                  <a:srgbClr val="F9F6FF"/>
                </a:solidFill>
                <a:latin typeface="Inclusive Sans" panose="020B0604020202020204" charset="0"/>
                <a:ea typeface="Inclusive Sans"/>
                <a:cs typeface="Inclusive Sans" panose="020B0604020202020204" charset="0"/>
                <a:sym typeface="Inclusive Sans"/>
              </a:rPr>
              <a:t> Mutex-</a:t>
            </a:r>
            <a:r>
              <a:rPr lang="en-US" sz="2400" b="0" i="0" u="none" strike="noStrike" cap="none" dirty="0" err="1">
                <a:solidFill>
                  <a:srgbClr val="F9F6FF"/>
                </a:solidFill>
                <a:latin typeface="Inclusive Sans" panose="020B0604020202020204" charset="0"/>
                <a:ea typeface="Inclusive Sans"/>
                <a:cs typeface="Inclusive Sans" panose="020B0604020202020204" charset="0"/>
                <a:sym typeface="Inclusive Sans"/>
              </a:rPr>
              <a:t>ul</a:t>
            </a:r>
            <a:endParaRPr lang="en-US" sz="2400" b="0" i="0" u="none" strike="noStrike" cap="none" dirty="0">
              <a:solidFill>
                <a:srgbClr val="F9F6FF"/>
              </a:solidFill>
              <a:latin typeface="Inclusive Sans" panose="020B0604020202020204" charset="0"/>
              <a:ea typeface="Inclusive Sans"/>
              <a:cs typeface="Inclusive Sans" panose="020B0604020202020204" charset="0"/>
              <a:sym typeface="Inclusive Sans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F9F6FF"/>
              </a:solidFill>
              <a:latin typeface="Inclusive Sans" panose="020B0604020202020204" charset="0"/>
              <a:cs typeface="Inclusive Sans" panose="020B0604020202020204" charset="0"/>
              <a:sym typeface="Inclusive Sans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Introduce job-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ul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(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calea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pozei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+ socket-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ul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clientului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)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în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coada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FIFO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1"/>
              </a:solidFill>
              <a:latin typeface="Inclusive Sans" panose="020B0604020202020204" charset="0"/>
              <a:cs typeface="Inclusive Sans" panose="020B0604020202020204" charset="0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Trimite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un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semnal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(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pthread_cond_signal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)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pentru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a 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trezi</a:t>
            </a:r>
            <a:r>
              <a:rPr lang="en-US" sz="2400" dirty="0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 Worker-</a:t>
            </a:r>
            <a:r>
              <a:rPr lang="en-US" sz="2400" dirty="0" err="1">
                <a:solidFill>
                  <a:schemeClr val="bg1"/>
                </a:solidFill>
                <a:latin typeface="Inclusive Sans" panose="020B0604020202020204" charset="0"/>
                <a:cs typeface="Inclusive Sans" panose="020B0604020202020204" charset="0"/>
              </a:rPr>
              <a:t>ul</a:t>
            </a:r>
            <a:endParaRPr lang="en-US" sz="2400" dirty="0">
              <a:solidFill>
                <a:schemeClr val="bg1"/>
              </a:solidFill>
              <a:latin typeface="Inclusive Sans" panose="020B0604020202020204" charset="0"/>
              <a:cs typeface="Inclusive Sans" panose="020B0604020202020204" charset="0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371475" y="574675"/>
            <a:ext cx="13401995" cy="118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 dirty="0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Workflow-</a:t>
            </a:r>
            <a:r>
              <a:rPr lang="en-US" sz="6399" b="0" i="0" u="none" strike="noStrike" cap="none" dirty="0" err="1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ul</a:t>
            </a:r>
            <a:r>
              <a:rPr lang="en-US" sz="6399" b="0" i="0" u="none" strike="noStrike" cap="none" dirty="0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6399" b="0" i="0" u="none" strike="noStrike" cap="none" dirty="0" err="1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Aplicației</a:t>
            </a:r>
            <a:r>
              <a:rPr lang="en-US" sz="6399" b="0" i="0" u="none" strike="noStrike" cap="none" dirty="0">
                <a:solidFill>
                  <a:srgbClr val="A477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Pasul 1</a:t>
            </a:r>
          </a:p>
        </p:txBody>
      </p:sp>
      <p:sp>
        <p:nvSpPr>
          <p:cNvPr id="287" name="Google Shape;287;p20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  <p:pic>
        <p:nvPicPr>
          <p:cNvPr id="288" name="Google Shape;288;p20"/>
          <p:cNvPicPr preferRelativeResize="0"/>
          <p:nvPr/>
        </p:nvPicPr>
        <p:blipFill rotWithShape="1">
          <a:blip r:embed="rId4">
            <a:alphaModFix/>
          </a:blip>
          <a:srcRect t="51837" r="418"/>
          <a:stretch/>
        </p:blipFill>
        <p:spPr>
          <a:xfrm>
            <a:off x="11268775" y="0"/>
            <a:ext cx="7019224" cy="21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1F70E4F7-BC44-A11C-4B6F-229DCA55A8C0}"/>
              </a:ext>
            </a:extLst>
          </p:cNvPr>
          <p:cNvSpPr txBox="1"/>
          <p:nvPr/>
        </p:nvSpPr>
        <p:spPr>
          <a:xfrm>
            <a:off x="2319611" y="2323525"/>
            <a:ext cx="1552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dirty="0">
                <a:solidFill>
                  <a:schemeClr val="bg1"/>
                </a:solidFill>
              </a:rPr>
              <a:t>Clientul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15ED9716-EECD-72CF-3592-AD6583A08171}"/>
              </a:ext>
            </a:extLst>
          </p:cNvPr>
          <p:cNvSpPr txBox="1"/>
          <p:nvPr/>
        </p:nvSpPr>
        <p:spPr>
          <a:xfrm>
            <a:off x="6919326" y="2275201"/>
            <a:ext cx="444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dirty="0">
                <a:solidFill>
                  <a:schemeClr val="bg1"/>
                </a:solidFill>
              </a:rPr>
              <a:t>Serverul (INET </a:t>
            </a:r>
            <a:r>
              <a:rPr lang="ro-RO" sz="3200" dirty="0" err="1">
                <a:solidFill>
                  <a:schemeClr val="bg1"/>
                </a:solidFill>
              </a:rPr>
              <a:t>Thread</a:t>
            </a:r>
            <a:r>
              <a:rPr lang="ro-RO" sz="3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57B72DA4-281E-0CDA-D949-A101C3669C5E}"/>
              </a:ext>
            </a:extLst>
          </p:cNvPr>
          <p:cNvSpPr txBox="1"/>
          <p:nvPr/>
        </p:nvSpPr>
        <p:spPr>
          <a:xfrm>
            <a:off x="13837770" y="2282246"/>
            <a:ext cx="2690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dirty="0">
                <a:solidFill>
                  <a:schemeClr val="bg1"/>
                </a:solidFill>
              </a:rPr>
              <a:t>Sincronizarea</a:t>
            </a:r>
          </a:p>
        </p:txBody>
      </p:sp>
      <p:sp>
        <p:nvSpPr>
          <p:cNvPr id="9" name="Google Shape;308;p21">
            <a:extLst>
              <a:ext uri="{FF2B5EF4-FFF2-40B4-BE49-F238E27FC236}">
                <a16:creationId xmlns:a16="http://schemas.microsoft.com/office/drawing/2014/main" id="{C5C9C341-278C-9E8A-F206-5AD75A0E714A}"/>
              </a:ext>
            </a:extLst>
          </p:cNvPr>
          <p:cNvSpPr txBox="1"/>
          <p:nvPr/>
        </p:nvSpPr>
        <p:spPr>
          <a:xfrm>
            <a:off x="371475" y="1517200"/>
            <a:ext cx="12564818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9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Cum </a:t>
            </a:r>
            <a:r>
              <a:rPr lang="fr-FR" sz="29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ajunge</a:t>
            </a:r>
            <a:r>
              <a:rPr lang="fr-FR" sz="29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fr-FR" sz="29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testul</a:t>
            </a:r>
            <a:r>
              <a:rPr lang="fr-FR" sz="29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la </a:t>
            </a:r>
            <a:r>
              <a:rPr lang="fr-FR" sz="2999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student</a:t>
            </a:r>
            <a:r>
              <a:rPr lang="fr-FR" sz="2999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la server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381000" y="565366"/>
            <a:ext cx="9763125" cy="2363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 dirty="0">
                <a:solidFill>
                  <a:schemeClr val="bg1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Workflow-</a:t>
            </a:r>
            <a:r>
              <a:rPr lang="en-US" sz="6399" b="0" i="0" u="none" strike="noStrike" cap="none" dirty="0" err="1">
                <a:solidFill>
                  <a:schemeClr val="bg1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ul</a:t>
            </a:r>
            <a:r>
              <a:rPr lang="en-US" sz="6399" b="0" i="0" u="none" strike="noStrike" cap="none" dirty="0">
                <a:solidFill>
                  <a:schemeClr val="bg1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6399" b="0" i="0" u="none" strike="noStrike" cap="none" dirty="0" err="1">
                <a:solidFill>
                  <a:schemeClr val="bg1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Aplicației</a:t>
            </a:r>
            <a:r>
              <a:rPr lang="en-US" sz="6399" b="0" i="0" u="none" strike="noStrike" cap="none" dirty="0">
                <a:solidFill>
                  <a:schemeClr val="bg1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Pasul 2</a:t>
            </a:r>
          </a:p>
        </p:txBody>
      </p:sp>
      <p:sp>
        <p:nvSpPr>
          <p:cNvPr id="206" name="Google Shape;206;p19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  <p:sp>
        <p:nvSpPr>
          <p:cNvPr id="8" name="Titlu 7">
            <a:extLst>
              <a:ext uri="{FF2B5EF4-FFF2-40B4-BE49-F238E27FC236}">
                <a16:creationId xmlns:a16="http://schemas.microsoft.com/office/drawing/2014/main" id="{C37B07CE-6165-1BB0-5F8E-E87A50C3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792" y="3971574"/>
            <a:ext cx="2232415" cy="70684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ro-RO" sz="4000" dirty="0"/>
              <a:t>Trezirea</a:t>
            </a:r>
          </a:p>
        </p:txBody>
      </p:sp>
      <p:sp>
        <p:nvSpPr>
          <p:cNvPr id="9" name="Substituent text 8">
            <a:extLst>
              <a:ext uri="{FF2B5EF4-FFF2-40B4-BE49-F238E27FC236}">
                <a16:creationId xmlns:a16="http://schemas.microsoft.com/office/drawing/2014/main" id="{EEABE242-9A81-8C45-3CB4-621AED612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692" y="4910961"/>
            <a:ext cx="5204215" cy="4278759"/>
          </a:xfr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o-RO" sz="2000" dirty="0" err="1"/>
              <a:t>Worker</a:t>
            </a:r>
            <a:r>
              <a:rPr lang="ro-RO" sz="2000" dirty="0"/>
              <a:t> </a:t>
            </a:r>
            <a:r>
              <a:rPr lang="ro-RO" sz="2000" dirty="0" err="1"/>
              <a:t>Thread</a:t>
            </a:r>
            <a:r>
              <a:rPr lang="ro-RO" sz="2000" dirty="0"/>
              <a:t> primește semnalul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marL="114300" indent="0" algn="ctr">
              <a:buNone/>
            </a:pPr>
            <a:endParaRPr lang="en-US" sz="2000" dirty="0"/>
          </a:p>
          <a:p>
            <a:pPr algn="ctr"/>
            <a:r>
              <a:rPr lang="en-US" sz="2000" dirty="0" err="1"/>
              <a:t>Blochează</a:t>
            </a:r>
            <a:r>
              <a:rPr lang="en-US" sz="2000" dirty="0"/>
              <a:t> Mutex-</a:t>
            </a:r>
            <a:r>
              <a:rPr lang="en-US" sz="2000" dirty="0" err="1"/>
              <a:t>ul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</a:t>
            </a:r>
            <a:r>
              <a:rPr lang="ro-RO" sz="2000" dirty="0" err="1"/>
              <a:t>xtrage</a:t>
            </a:r>
            <a:r>
              <a:rPr lang="ro-RO" sz="2000" dirty="0"/>
              <a:t> primul test din coadă și eliberează </a:t>
            </a:r>
            <a:r>
              <a:rPr lang="ro-RO" sz="2000" dirty="0" err="1"/>
              <a:t>Mutex-ul</a:t>
            </a:r>
            <a:r>
              <a:rPr lang="ro-RO" sz="2000" dirty="0"/>
              <a:t> rapid</a:t>
            </a:r>
          </a:p>
        </p:txBody>
      </p:sp>
      <p:sp>
        <p:nvSpPr>
          <p:cNvPr id="13" name="Săgeată: jos 12">
            <a:extLst>
              <a:ext uri="{FF2B5EF4-FFF2-40B4-BE49-F238E27FC236}">
                <a16:creationId xmlns:a16="http://schemas.microsoft.com/office/drawing/2014/main" id="{1A73DA83-ACE2-9A2C-F8E1-DA34407BA096}"/>
              </a:ext>
            </a:extLst>
          </p:cNvPr>
          <p:cNvSpPr/>
          <p:nvPr/>
        </p:nvSpPr>
        <p:spPr>
          <a:xfrm>
            <a:off x="3154679" y="7126398"/>
            <a:ext cx="548640" cy="84582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4" name="Titlu 7">
            <a:extLst>
              <a:ext uri="{FF2B5EF4-FFF2-40B4-BE49-F238E27FC236}">
                <a16:creationId xmlns:a16="http://schemas.microsoft.com/office/drawing/2014/main" id="{AE51CDFA-3A54-4796-1AAA-03C8C349C34F}"/>
              </a:ext>
            </a:extLst>
          </p:cNvPr>
          <p:cNvSpPr txBox="1">
            <a:spLocks/>
          </p:cNvSpPr>
          <p:nvPr/>
        </p:nvSpPr>
        <p:spPr>
          <a:xfrm>
            <a:off x="7739535" y="3630733"/>
            <a:ext cx="2232415" cy="117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0000"/>
              <a:buFont typeface="Merriweather Sans"/>
              <a:buNone/>
              <a:defRPr sz="10000" b="0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RO" sz="4000" dirty="0"/>
              <a:t>Puntea C-C++</a:t>
            </a:r>
          </a:p>
        </p:txBody>
      </p:sp>
      <p:sp>
        <p:nvSpPr>
          <p:cNvPr id="17" name="Substituent text 8">
            <a:extLst>
              <a:ext uri="{FF2B5EF4-FFF2-40B4-BE49-F238E27FC236}">
                <a16:creationId xmlns:a16="http://schemas.microsoft.com/office/drawing/2014/main" id="{0567E242-C7A3-AEDD-11FB-5082704EE677}"/>
              </a:ext>
            </a:extLst>
          </p:cNvPr>
          <p:cNvSpPr txBox="1">
            <a:spLocks/>
          </p:cNvSpPr>
          <p:nvPr/>
        </p:nvSpPr>
        <p:spPr>
          <a:xfrm>
            <a:off x="6107306" y="4910961"/>
            <a:ext cx="5204215" cy="427875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»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pPr algn="ctr"/>
            <a:r>
              <a:rPr lang="it-IT" sz="2000" dirty="0"/>
              <a:t>Trimite imaginea prin wrapper-ul nostru nativ</a:t>
            </a:r>
            <a:endParaRPr lang="en-US" sz="2000" dirty="0"/>
          </a:p>
          <a:p>
            <a:pPr marL="114300" indent="0" algn="ctr">
              <a:buFont typeface="Inclusive Sans"/>
              <a:buNone/>
            </a:pPr>
            <a:endParaRPr lang="en-US" sz="2000" dirty="0"/>
          </a:p>
          <a:p>
            <a:pPr marL="114300" indent="0" algn="ctr">
              <a:buFont typeface="Inclusive Sans"/>
              <a:buNone/>
            </a:pPr>
            <a:endParaRPr lang="en-US" sz="2000" dirty="0"/>
          </a:p>
          <a:p>
            <a:pPr marL="114300" indent="0" algn="ctr">
              <a:buFont typeface="Inclusive Sans"/>
              <a:buNone/>
            </a:pPr>
            <a:endParaRPr lang="en-US" sz="2000" dirty="0"/>
          </a:p>
          <a:p>
            <a:pPr marL="114300" indent="0" algn="ctr">
              <a:buFont typeface="Inclusive Sans"/>
              <a:buNone/>
            </a:pPr>
            <a:endParaRPr lang="en-US" sz="2000" dirty="0"/>
          </a:p>
          <a:p>
            <a:pPr marL="114300" indent="0" algn="ctr">
              <a:buFont typeface="Inclusive Sans"/>
              <a:buNone/>
            </a:pPr>
            <a:endParaRPr lang="en-US" sz="2000" dirty="0"/>
          </a:p>
          <a:p>
            <a:pPr marL="114300" indent="0" algn="ctr">
              <a:buFont typeface="Inclusive Sans"/>
              <a:buNone/>
            </a:pPr>
            <a:endParaRPr lang="en-US" sz="2000" dirty="0"/>
          </a:p>
          <a:p>
            <a:pPr algn="ctr"/>
            <a:r>
              <a:rPr lang="en-US" sz="2000" dirty="0"/>
              <a:t> </a:t>
            </a:r>
            <a:r>
              <a:rPr lang="pt-BR" sz="2000" dirty="0"/>
              <a:t>Biblioteca precompilată OpenCV o primește</a:t>
            </a:r>
            <a:endParaRPr lang="en-US" sz="2000" dirty="0"/>
          </a:p>
        </p:txBody>
      </p:sp>
      <p:sp>
        <p:nvSpPr>
          <p:cNvPr id="18" name="Substituent text 8">
            <a:extLst>
              <a:ext uri="{FF2B5EF4-FFF2-40B4-BE49-F238E27FC236}">
                <a16:creationId xmlns:a16="http://schemas.microsoft.com/office/drawing/2014/main" id="{6074ECE4-6392-8D9D-9062-BB73DA5E54BC}"/>
              </a:ext>
            </a:extLst>
          </p:cNvPr>
          <p:cNvSpPr txBox="1">
            <a:spLocks/>
          </p:cNvSpPr>
          <p:nvPr/>
        </p:nvSpPr>
        <p:spPr>
          <a:xfrm>
            <a:off x="11463920" y="4910961"/>
            <a:ext cx="5204215" cy="427875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–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»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9F6FF"/>
              </a:buClr>
              <a:buSzPts val="1800"/>
              <a:buFont typeface="Inclusive Sans"/>
              <a:buChar char="•"/>
              <a:defRPr sz="1800" b="0" i="0" u="none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defRPr>
            </a:lvl9pPr>
          </a:lstStyle>
          <a:p>
            <a:pPr algn="ctr"/>
            <a:r>
              <a:rPr lang="ro-RO" sz="2000" dirty="0">
                <a:latin typeface="Inclusive Sans" panose="020B0604020202020204" charset="0"/>
                <a:cs typeface="Inclusive Sans" panose="020B0604020202020204" charset="0"/>
              </a:rPr>
              <a:t>Analizează coordonatele fiecărei bule</a:t>
            </a:r>
            <a:endParaRPr lang="en-US" sz="2000" dirty="0">
              <a:latin typeface="Inclusive Sans" panose="020B0604020202020204" charset="0"/>
              <a:cs typeface="Inclusive Sans" panose="020B0604020202020204" charset="0"/>
            </a:endParaRPr>
          </a:p>
          <a:p>
            <a:pPr marL="114300" indent="0" algn="ctr">
              <a:buFont typeface="Inclusive Sans"/>
              <a:buNone/>
            </a:pPr>
            <a:endParaRPr lang="en-US" sz="2000" dirty="0">
              <a:latin typeface="Inclusive Sans" panose="020B0604020202020204" charset="0"/>
              <a:cs typeface="Inclusive Sans" panose="020B0604020202020204" charset="0"/>
            </a:endParaRPr>
          </a:p>
          <a:p>
            <a:pPr algn="ctr"/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N</a:t>
            </a:r>
            <a:r>
              <a:rPr lang="ro-RO" sz="2000" b="0" i="0" dirty="0" err="1">
                <a:effectLst/>
                <a:latin typeface="Inclusive Sans" panose="020B0604020202020204" charset="0"/>
                <a:cs typeface="Inclusive Sans" panose="020B0604020202020204" charset="0"/>
              </a:rPr>
              <a:t>umără</a:t>
            </a:r>
            <a:r>
              <a:rPr lang="ro-RO" sz="2000" b="0" i="0" dirty="0">
                <a:effectLst/>
                <a:latin typeface="Inclusive Sans" panose="020B0604020202020204" charset="0"/>
                <a:cs typeface="Inclusive Sans" panose="020B0604020202020204" charset="0"/>
              </a:rPr>
              <a:t> pixelii negri</a:t>
            </a:r>
            <a:endParaRPr lang="en-US" sz="2000" dirty="0">
              <a:latin typeface="Inclusive Sans" panose="020B0604020202020204" charset="0"/>
              <a:cs typeface="Inclusive Sans" panose="020B0604020202020204" charset="0"/>
            </a:endParaRPr>
          </a:p>
          <a:p>
            <a:pPr marL="114300" indent="0" algn="ctr">
              <a:buNone/>
            </a:pPr>
            <a:endParaRPr lang="en-US" sz="2000" dirty="0">
              <a:latin typeface="Inclusive Sans" panose="020B0604020202020204" charset="0"/>
              <a:cs typeface="Inclusive Sans" panose="020B0604020202020204" charset="0"/>
            </a:endParaRPr>
          </a:p>
          <a:p>
            <a:pPr algn="ctr"/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 </a:t>
            </a:r>
            <a:r>
              <a:rPr lang="en-US" sz="2000" dirty="0" err="1">
                <a:latin typeface="Inclusive Sans" panose="020B0604020202020204" charset="0"/>
                <a:cs typeface="Inclusive Sans" panose="020B0604020202020204" charset="0"/>
              </a:rPr>
              <a:t>Compară</a:t>
            </a:r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 cu </a:t>
            </a:r>
            <a:r>
              <a:rPr lang="en-US" sz="2000" dirty="0" err="1">
                <a:latin typeface="Inclusive Sans" panose="020B0604020202020204" charset="0"/>
                <a:cs typeface="Inclusive Sans" panose="020B0604020202020204" charset="0"/>
              </a:rPr>
              <a:t>baremul</a:t>
            </a:r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 din </a:t>
            </a:r>
            <a:r>
              <a:rPr lang="en-US" sz="2000" dirty="0" err="1">
                <a:latin typeface="Inclusive Sans" panose="020B0604020202020204" charset="0"/>
                <a:cs typeface="Inclusive Sans" panose="020B0604020202020204" charset="0"/>
              </a:rPr>
              <a:t>memorie</a:t>
            </a:r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 </a:t>
            </a:r>
            <a:r>
              <a:rPr lang="en-US" sz="2000" dirty="0" err="1">
                <a:latin typeface="Inclusive Sans" panose="020B0604020202020204" charset="0"/>
                <a:cs typeface="Inclusive Sans" panose="020B0604020202020204" charset="0"/>
              </a:rPr>
              <a:t>și</a:t>
            </a:r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 </a:t>
            </a:r>
            <a:r>
              <a:rPr lang="en-US" sz="2000" dirty="0" err="1">
                <a:latin typeface="Inclusive Sans" panose="020B0604020202020204" charset="0"/>
                <a:cs typeface="Inclusive Sans" panose="020B0604020202020204" charset="0"/>
              </a:rPr>
              <a:t>calculează</a:t>
            </a:r>
            <a:r>
              <a:rPr lang="en-US" sz="2000" dirty="0">
                <a:latin typeface="Inclusive Sans" panose="020B0604020202020204" charset="0"/>
                <a:cs typeface="Inclusive Sans" panose="020B0604020202020204" charset="0"/>
              </a:rPr>
              <a:t> nota (ex: 9.75)</a:t>
            </a:r>
          </a:p>
          <a:p>
            <a:pPr algn="ctr"/>
            <a:endParaRPr lang="en-US" sz="2000" dirty="0">
              <a:latin typeface="Inclusive Sans" panose="020B0604020202020204" charset="0"/>
              <a:cs typeface="Inclusive Sans" panose="020B0604020202020204" charset="0"/>
            </a:endParaRPr>
          </a:p>
          <a:p>
            <a:pPr algn="ctr"/>
            <a:r>
              <a:rPr lang="ro-RO" sz="2000" dirty="0">
                <a:latin typeface="Inclusive Sans" panose="020B0604020202020204" charset="0"/>
                <a:cs typeface="Inclusive Sans" panose="020B0604020202020204" charset="0"/>
              </a:rPr>
              <a:t>De asemenea, salvează pe disc o imagine temporară cu pătratele desenate pe ea</a:t>
            </a:r>
          </a:p>
        </p:txBody>
      </p:sp>
      <p:sp>
        <p:nvSpPr>
          <p:cNvPr id="19" name="Titlu 7">
            <a:extLst>
              <a:ext uri="{FF2B5EF4-FFF2-40B4-BE49-F238E27FC236}">
                <a16:creationId xmlns:a16="http://schemas.microsoft.com/office/drawing/2014/main" id="{0B0AD3AD-F08E-BEC0-C094-C88F3B694A44}"/>
              </a:ext>
            </a:extLst>
          </p:cNvPr>
          <p:cNvSpPr txBox="1">
            <a:spLocks/>
          </p:cNvSpPr>
          <p:nvPr/>
        </p:nvSpPr>
        <p:spPr>
          <a:xfrm>
            <a:off x="12873618" y="4011228"/>
            <a:ext cx="2405770" cy="74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0000"/>
              <a:buFont typeface="Merriweather Sans"/>
              <a:buNone/>
              <a:defRPr sz="10000" b="0" i="0" u="none" strike="noStrike" cap="none">
                <a:solidFill>
                  <a:srgbClr val="F9F6FF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6FF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F9F6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RO" sz="4000" dirty="0"/>
              <a:t>Scanarea</a:t>
            </a:r>
          </a:p>
        </p:txBody>
      </p:sp>
      <p:sp>
        <p:nvSpPr>
          <p:cNvPr id="20" name="Săgeată: jos 19">
            <a:extLst>
              <a:ext uri="{FF2B5EF4-FFF2-40B4-BE49-F238E27FC236}">
                <a16:creationId xmlns:a16="http://schemas.microsoft.com/office/drawing/2014/main" id="{77AF0832-51DD-95A7-50F4-999BDFDAAB1B}"/>
              </a:ext>
            </a:extLst>
          </p:cNvPr>
          <p:cNvSpPr/>
          <p:nvPr/>
        </p:nvSpPr>
        <p:spPr>
          <a:xfrm>
            <a:off x="3154679" y="5645261"/>
            <a:ext cx="548640" cy="84582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bg1"/>
              </a:solidFill>
            </a:endParaRPr>
          </a:p>
        </p:txBody>
      </p:sp>
      <p:sp>
        <p:nvSpPr>
          <p:cNvPr id="21" name="Săgeată: jos 20">
            <a:extLst>
              <a:ext uri="{FF2B5EF4-FFF2-40B4-BE49-F238E27FC236}">
                <a16:creationId xmlns:a16="http://schemas.microsoft.com/office/drawing/2014/main" id="{FFD2217F-59B3-6E1D-A8AA-32353EFA996E}"/>
              </a:ext>
            </a:extLst>
          </p:cNvPr>
          <p:cNvSpPr/>
          <p:nvPr/>
        </p:nvSpPr>
        <p:spPr>
          <a:xfrm>
            <a:off x="8090350" y="6385304"/>
            <a:ext cx="1238128" cy="144803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Săgeată: jos 23">
            <a:extLst>
              <a:ext uri="{FF2B5EF4-FFF2-40B4-BE49-F238E27FC236}">
                <a16:creationId xmlns:a16="http://schemas.microsoft.com/office/drawing/2014/main" id="{A022D360-BFA1-53A4-E727-8EF531D8D9A6}"/>
              </a:ext>
            </a:extLst>
          </p:cNvPr>
          <p:cNvSpPr/>
          <p:nvPr/>
        </p:nvSpPr>
        <p:spPr>
          <a:xfrm>
            <a:off x="13878250" y="6260025"/>
            <a:ext cx="396506" cy="35855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bg1"/>
              </a:solidFill>
            </a:endParaRPr>
          </a:p>
        </p:txBody>
      </p:sp>
      <p:sp>
        <p:nvSpPr>
          <p:cNvPr id="25" name="Săgeată: jos 24">
            <a:extLst>
              <a:ext uri="{FF2B5EF4-FFF2-40B4-BE49-F238E27FC236}">
                <a16:creationId xmlns:a16="http://schemas.microsoft.com/office/drawing/2014/main" id="{D64BF51C-12FD-AAEE-9679-6C0A7704592E}"/>
              </a:ext>
            </a:extLst>
          </p:cNvPr>
          <p:cNvSpPr/>
          <p:nvPr/>
        </p:nvSpPr>
        <p:spPr>
          <a:xfrm>
            <a:off x="13878250" y="7324248"/>
            <a:ext cx="396506" cy="35855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bg1"/>
              </a:solidFill>
            </a:endParaRPr>
          </a:p>
        </p:txBody>
      </p:sp>
      <p:sp>
        <p:nvSpPr>
          <p:cNvPr id="26" name="Săgeată: jos 25">
            <a:extLst>
              <a:ext uri="{FF2B5EF4-FFF2-40B4-BE49-F238E27FC236}">
                <a16:creationId xmlns:a16="http://schemas.microsoft.com/office/drawing/2014/main" id="{946CECF6-0835-376B-0936-B19F8E949DB2}"/>
              </a:ext>
            </a:extLst>
          </p:cNvPr>
          <p:cNvSpPr/>
          <p:nvPr/>
        </p:nvSpPr>
        <p:spPr>
          <a:xfrm>
            <a:off x="13878250" y="5387244"/>
            <a:ext cx="396506" cy="35855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/>
          <p:nvPr/>
        </p:nvSpPr>
        <p:spPr>
          <a:xfrm>
            <a:off x="420052" y="5254006"/>
            <a:ext cx="338648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Trimiterea</a:t>
            </a:r>
            <a:r>
              <a:rPr lang="en-US" sz="30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30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Notei</a:t>
            </a:r>
            <a:r>
              <a:rPr lang="en-US" sz="30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endParaRPr dirty="0"/>
          </a:p>
        </p:txBody>
      </p:sp>
      <p:sp>
        <p:nvSpPr>
          <p:cNvPr id="294" name="Google Shape;294;p21"/>
          <p:cNvSpPr txBox="1"/>
          <p:nvPr/>
        </p:nvSpPr>
        <p:spPr>
          <a:xfrm>
            <a:off x="420053" y="6558931"/>
            <a:ext cx="512064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Worker-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buffer fix de 256 de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octeți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text cu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mesajul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"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Succes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! Nota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acordată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9.75/10"</a:t>
            </a:r>
            <a:endParaRPr lang="en-US" sz="2000" dirty="0"/>
          </a:p>
        </p:txBody>
      </p:sp>
      <p:cxnSp>
        <p:nvCxnSpPr>
          <p:cNvPr id="297" name="Google Shape;297;p21"/>
          <p:cNvCxnSpPr/>
          <p:nvPr/>
        </p:nvCxnSpPr>
        <p:spPr>
          <a:xfrm>
            <a:off x="340312" y="6143178"/>
            <a:ext cx="17607376" cy="0"/>
          </a:xfrm>
          <a:prstGeom prst="straightConnector1">
            <a:avLst/>
          </a:prstGeom>
          <a:noFill/>
          <a:ln w="19050" cap="flat" cmpd="sng">
            <a:solidFill>
              <a:srgbClr val="A47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p21"/>
          <p:cNvSpPr/>
          <p:nvPr/>
        </p:nvSpPr>
        <p:spPr>
          <a:xfrm>
            <a:off x="705803" y="5986597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4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6702462" y="6013206"/>
            <a:ext cx="329011" cy="323850"/>
          </a:xfrm>
          <a:custGeom>
            <a:avLst/>
            <a:gdLst/>
            <a:ahLst/>
            <a:cxnLst/>
            <a:rect l="l" t="t" r="r" b="b"/>
            <a:pathLst>
              <a:path w="6451193" h="6350000" extrusionOk="0">
                <a:moveTo>
                  <a:pt x="3225597" y="0"/>
                </a:moveTo>
                <a:cubicBezTo>
                  <a:pt x="1444149" y="0"/>
                  <a:pt x="0" y="1421496"/>
                  <a:pt x="0" y="3175000"/>
                </a:cubicBezTo>
                <a:cubicBezTo>
                  <a:pt x="0" y="4928504"/>
                  <a:pt x="1444149" y="6350000"/>
                  <a:pt x="3225597" y="6350000"/>
                </a:cubicBezTo>
                <a:cubicBezTo>
                  <a:pt x="5007044" y="6350000"/>
                  <a:pt x="6451193" y="4928504"/>
                  <a:pt x="6451193" y="3175000"/>
                </a:cubicBezTo>
                <a:cubicBezTo>
                  <a:pt x="6451193" y="1421496"/>
                  <a:pt x="5007044" y="0"/>
                  <a:pt x="3225597" y="0"/>
                </a:cubicBezTo>
                <a:close/>
              </a:path>
            </a:pathLst>
          </a:custGeom>
          <a:solidFill>
            <a:srgbClr val="A4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13239393" y="5986597"/>
            <a:ext cx="329011" cy="323850"/>
          </a:xfrm>
          <a:custGeom>
            <a:avLst/>
            <a:gdLst/>
            <a:ahLst/>
            <a:cxnLst/>
            <a:rect l="l" t="t" r="r" b="b"/>
            <a:pathLst>
              <a:path w="6451193" h="6350000" extrusionOk="0">
                <a:moveTo>
                  <a:pt x="3225597" y="0"/>
                </a:moveTo>
                <a:cubicBezTo>
                  <a:pt x="1444149" y="0"/>
                  <a:pt x="0" y="1421496"/>
                  <a:pt x="0" y="3175000"/>
                </a:cubicBezTo>
                <a:cubicBezTo>
                  <a:pt x="0" y="4928504"/>
                  <a:pt x="1444149" y="6350000"/>
                  <a:pt x="3225597" y="6350000"/>
                </a:cubicBezTo>
                <a:cubicBezTo>
                  <a:pt x="5007044" y="6350000"/>
                  <a:pt x="6451193" y="4928504"/>
                  <a:pt x="6451193" y="3175000"/>
                </a:cubicBezTo>
                <a:cubicBezTo>
                  <a:pt x="6451193" y="1421496"/>
                  <a:pt x="5007044" y="0"/>
                  <a:pt x="3225597" y="0"/>
                </a:cubicBezTo>
                <a:close/>
              </a:path>
            </a:pathLst>
          </a:custGeom>
          <a:solidFill>
            <a:srgbClr val="A47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6410499" y="5184116"/>
            <a:ext cx="35082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Trimiterea</a:t>
            </a:r>
            <a:r>
              <a:rPr lang="en-US" sz="30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30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Dovezii</a:t>
            </a:r>
            <a:endParaRPr lang="en-US" dirty="0"/>
          </a:p>
        </p:txBody>
      </p:sp>
      <p:sp>
        <p:nvSpPr>
          <p:cNvPr id="303" name="Google Shape;303;p21"/>
          <p:cNvSpPr txBox="1"/>
          <p:nvPr/>
        </p:nvSpPr>
        <p:spPr>
          <a:xfrm>
            <a:off x="6567491" y="6525588"/>
            <a:ext cx="5663562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Imediat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după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Worker-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dimensiunea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imaginii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corectate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(4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octeți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),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urmată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fluxul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binar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al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pozei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(.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png-ul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modificat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).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După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trimitere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serverul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șterge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poza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la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pe disc.</a:t>
            </a:r>
            <a:endParaRPr lang="en-US" sz="2000" dirty="0"/>
          </a:p>
        </p:txBody>
      </p:sp>
      <p:sp>
        <p:nvSpPr>
          <p:cNvPr id="304" name="Google Shape;304;p21"/>
          <p:cNvSpPr txBox="1"/>
          <p:nvPr/>
        </p:nvSpPr>
        <p:spPr>
          <a:xfrm>
            <a:off x="12969631" y="5254006"/>
            <a:ext cx="294174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Finalul</a:t>
            </a:r>
            <a:endParaRPr lang="en-US" dirty="0"/>
          </a:p>
        </p:txBody>
      </p:sp>
      <p:sp>
        <p:nvSpPr>
          <p:cNvPr id="305" name="Google Shape;305;p21"/>
          <p:cNvSpPr txBox="1"/>
          <p:nvPr/>
        </p:nvSpPr>
        <p:spPr>
          <a:xfrm>
            <a:off x="12945818" y="6558931"/>
            <a:ext cx="5235502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Clientul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printează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nota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în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consolă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primește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fluxul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binar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și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salvează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poza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cu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numele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introdus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client.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Apoi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conexiunea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se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închide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000" b="0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curat</a:t>
            </a:r>
            <a:r>
              <a:rPr lang="en-US" sz="2000" b="0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endParaRPr lang="en-US" sz="2000" dirty="0"/>
          </a:p>
        </p:txBody>
      </p:sp>
      <p:grpSp>
        <p:nvGrpSpPr>
          <p:cNvPr id="306" name="Google Shape;306;p21"/>
          <p:cNvGrpSpPr/>
          <p:nvPr/>
        </p:nvGrpSpPr>
        <p:grpSpPr>
          <a:xfrm>
            <a:off x="381000" y="903785"/>
            <a:ext cx="12564818" cy="1795378"/>
            <a:chOff x="0" y="0"/>
            <a:chExt cx="16753091" cy="2393837"/>
          </a:xfrm>
        </p:grpSpPr>
        <p:sp>
          <p:nvSpPr>
            <p:cNvPr id="307" name="Google Shape;307;p21"/>
            <p:cNvSpPr txBox="1"/>
            <p:nvPr/>
          </p:nvSpPr>
          <p:spPr>
            <a:xfrm>
              <a:off x="0" y="0"/>
              <a:ext cx="16753091" cy="1575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399" b="0" i="0" u="none" strike="noStrike" cap="none" dirty="0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Workflow-</a:t>
              </a:r>
              <a:r>
                <a:rPr lang="en-US" sz="6399" b="0" i="0" u="none" strike="noStrike" cap="none" dirty="0" err="1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ul</a:t>
              </a:r>
              <a:r>
                <a:rPr lang="en-US" sz="6399" b="0" i="0" u="none" strike="noStrike" cap="none" dirty="0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</a:t>
              </a:r>
              <a:r>
                <a:rPr lang="en-US" sz="6399" b="0" i="0" u="none" strike="noStrike" cap="none" dirty="0" err="1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Aplicației</a:t>
              </a:r>
              <a:r>
                <a:rPr lang="en-US" sz="6399" b="0" i="0" u="none" strike="noStrike" cap="none" dirty="0">
                  <a:solidFill>
                    <a:srgbClr val="A477FF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– Pasul 3</a:t>
              </a:r>
              <a:endParaRPr lang="en-US" dirty="0"/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0" y="1532318"/>
              <a:ext cx="16753091" cy="8615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Cum </a:t>
              </a: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primește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</a:t>
              </a: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clientul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</a:t>
              </a: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rezultatul</a:t>
              </a:r>
              <a:r>
                <a:rPr lang="en-US" sz="2999" b="0" i="0" u="none" strike="noStrike" cap="none" dirty="0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</a:t>
              </a:r>
              <a:r>
                <a:rPr lang="en-US" sz="2999" b="0" i="0" u="none" strike="noStrike" cap="none" dirty="0" err="1">
                  <a:solidFill>
                    <a:srgbClr val="F9F6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înapoi</a:t>
              </a:r>
              <a:endParaRPr lang="en-US" dirty="0"/>
            </a:p>
          </p:txBody>
        </p:sp>
      </p:grpSp>
      <p:sp>
        <p:nvSpPr>
          <p:cNvPr id="309" name="Google Shape;309;p21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 rot="-5400000">
            <a:off x="14067231" y="-240322"/>
            <a:ext cx="4279549" cy="4279549"/>
          </a:xfrm>
          <a:custGeom>
            <a:avLst/>
            <a:gdLst/>
            <a:ahLst/>
            <a:cxnLst/>
            <a:rect l="l" t="t" r="r" b="b"/>
            <a:pathLst>
              <a:path w="4279549" h="4279549" extrusionOk="0">
                <a:moveTo>
                  <a:pt x="0" y="0"/>
                </a:moveTo>
                <a:lnTo>
                  <a:pt x="4279548" y="0"/>
                </a:lnTo>
                <a:lnTo>
                  <a:pt x="4279548" y="4279549"/>
                </a:lnTo>
                <a:lnTo>
                  <a:pt x="0" y="427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77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-256086" y="-1188970"/>
            <a:ext cx="18800170" cy="12237202"/>
          </a:xfrm>
          <a:custGeom>
            <a:avLst/>
            <a:gdLst/>
            <a:ahLst/>
            <a:cxnLst/>
            <a:rect l="l" t="t" r="r" b="b"/>
            <a:pathLst>
              <a:path w="18800170" h="12237202" extrusionOk="0">
                <a:moveTo>
                  <a:pt x="0" y="0"/>
                </a:moveTo>
                <a:lnTo>
                  <a:pt x="18800170" y="0"/>
                </a:lnTo>
                <a:lnTo>
                  <a:pt x="18800170" y="12237202"/>
                </a:lnTo>
                <a:lnTo>
                  <a:pt x="0" y="12237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o-RO"/>
          </a:p>
        </p:txBody>
      </p:sp>
      <p:grpSp>
        <p:nvGrpSpPr>
          <p:cNvPr id="316" name="Google Shape;316;p22"/>
          <p:cNvGrpSpPr/>
          <p:nvPr/>
        </p:nvGrpSpPr>
        <p:grpSpPr>
          <a:xfrm>
            <a:off x="5442167" y="2643053"/>
            <a:ext cx="6608045" cy="6806522"/>
            <a:chOff x="0" y="-19050"/>
            <a:chExt cx="1740390" cy="1792664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1740390" cy="1773614"/>
            </a:xfrm>
            <a:custGeom>
              <a:avLst/>
              <a:gdLst/>
              <a:ahLst/>
              <a:cxnLst/>
              <a:rect l="l" t="t" r="r" b="b"/>
              <a:pathLst>
                <a:path w="1740390" h="1773614" extrusionOk="0">
                  <a:moveTo>
                    <a:pt x="23432" y="0"/>
                  </a:moveTo>
                  <a:lnTo>
                    <a:pt x="1716959" y="0"/>
                  </a:lnTo>
                  <a:cubicBezTo>
                    <a:pt x="1723173" y="0"/>
                    <a:pt x="1729133" y="2469"/>
                    <a:pt x="1733528" y="6863"/>
                  </a:cubicBezTo>
                  <a:cubicBezTo>
                    <a:pt x="1737922" y="11257"/>
                    <a:pt x="1740390" y="17217"/>
                    <a:pt x="1740390" y="23432"/>
                  </a:cubicBezTo>
                  <a:lnTo>
                    <a:pt x="1740390" y="1750183"/>
                  </a:lnTo>
                  <a:cubicBezTo>
                    <a:pt x="1740390" y="1756397"/>
                    <a:pt x="1737922" y="1762357"/>
                    <a:pt x="1733528" y="1766751"/>
                  </a:cubicBezTo>
                  <a:cubicBezTo>
                    <a:pt x="1729133" y="1771146"/>
                    <a:pt x="1723173" y="1773614"/>
                    <a:pt x="1716959" y="1773614"/>
                  </a:cubicBezTo>
                  <a:lnTo>
                    <a:pt x="23432" y="1773614"/>
                  </a:lnTo>
                  <a:cubicBezTo>
                    <a:pt x="17217" y="1773614"/>
                    <a:pt x="11257" y="1771146"/>
                    <a:pt x="6863" y="1766751"/>
                  </a:cubicBezTo>
                  <a:cubicBezTo>
                    <a:pt x="2469" y="1762357"/>
                    <a:pt x="0" y="1756397"/>
                    <a:pt x="0" y="1750183"/>
                  </a:cubicBezTo>
                  <a:lnTo>
                    <a:pt x="0" y="23432"/>
                  </a:lnTo>
                  <a:cubicBezTo>
                    <a:pt x="0" y="17217"/>
                    <a:pt x="2469" y="11257"/>
                    <a:pt x="6863" y="6863"/>
                  </a:cubicBezTo>
                  <a:cubicBezTo>
                    <a:pt x="11257" y="2469"/>
                    <a:pt x="17217" y="0"/>
                    <a:pt x="23432" y="0"/>
                  </a:cubicBezTo>
                  <a:close/>
                </a:path>
              </a:pathLst>
            </a:custGeom>
            <a:solidFill>
              <a:srgbClr val="1B0D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0" y="-19050"/>
              <a:ext cx="1740390" cy="1792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22"/>
          <p:cNvSpPr txBox="1"/>
          <p:nvPr/>
        </p:nvSpPr>
        <p:spPr>
          <a:xfrm>
            <a:off x="2380188" y="820324"/>
            <a:ext cx="13527624" cy="118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 dirty="0" err="1">
                <a:solidFill>
                  <a:srgbClr val="1B0D39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Panoul</a:t>
            </a:r>
            <a:r>
              <a:rPr lang="en-US" sz="6399" b="0" i="0" u="none" strike="noStrike" cap="none" dirty="0">
                <a:solidFill>
                  <a:srgbClr val="1B0D39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6399" b="0" i="0" u="none" strike="noStrike" cap="none" dirty="0" err="1">
                <a:solidFill>
                  <a:srgbClr val="1B0D39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Administratorului</a:t>
            </a:r>
            <a:endParaRPr lang="en-US" dirty="0"/>
          </a:p>
        </p:txBody>
      </p:sp>
      <p:sp>
        <p:nvSpPr>
          <p:cNvPr id="324" name="Google Shape;324;p22"/>
          <p:cNvSpPr txBox="1"/>
          <p:nvPr/>
        </p:nvSpPr>
        <p:spPr>
          <a:xfrm>
            <a:off x="6022039" y="3557971"/>
            <a:ext cx="5448300" cy="398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Adminul</a:t>
            </a:r>
            <a:r>
              <a:rPr lang="en-US" sz="24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foloseste</a:t>
            </a:r>
            <a:r>
              <a:rPr lang="en-US" sz="24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Socket UNIX </a:t>
            </a:r>
            <a:r>
              <a:rPr lang="en-US" sz="2400" b="1" i="0" u="none" strike="noStrike" cap="none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1" i="0" u="none" strike="noStrike" cap="none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Securitate</a:t>
            </a:r>
          </a:p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b="1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Control 1:1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avea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doar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un admin active in acelasi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timp</a:t>
            </a:r>
            <a:endParaRPr lang="en-US" sz="2400" b="1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b="1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Mecanism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de Timeout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daca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administratorul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este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inactive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pentru</a:t>
            </a:r>
            <a:r>
              <a:rPr lang="en-US" sz="2400" b="1" dirty="0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30 de </a:t>
            </a:r>
            <a:r>
              <a:rPr lang="en-US" sz="2400" b="1" dirty="0" err="1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secunde</a:t>
            </a:r>
            <a:endParaRPr lang="en-US" sz="2400" b="1" i="0" u="none" strike="noStrike" cap="none" dirty="0">
              <a:solidFill>
                <a:srgbClr val="F9F6FF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5" name="Google Shape;324;p22">
            <a:extLst>
              <a:ext uri="{FF2B5EF4-FFF2-40B4-BE49-F238E27FC236}">
                <a16:creationId xmlns:a16="http://schemas.microsoft.com/office/drawing/2014/main" id="{63A7EC47-76DD-AAA5-359F-85CE50DC67B3}"/>
              </a:ext>
            </a:extLst>
          </p:cNvPr>
          <p:cNvSpPr txBox="1"/>
          <p:nvPr/>
        </p:nvSpPr>
        <p:spPr>
          <a:xfrm>
            <a:off x="10136841" y="3532723"/>
            <a:ext cx="544830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9F6FF"/>
              </a:solidFill>
              <a:latin typeface="Inclusive Sans"/>
              <a:cs typeface="Inclusive Sans"/>
              <a:sym typeface="Inclusive Sans"/>
            </a:endParaRPr>
          </a:p>
          <a:p>
            <a:pPr marL="342900" marR="0" lvl="0" indent="-34290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4;p22">
            <a:extLst>
              <a:ext uri="{FF2B5EF4-FFF2-40B4-BE49-F238E27FC236}">
                <a16:creationId xmlns:a16="http://schemas.microsoft.com/office/drawing/2014/main" id="{7F0B0AFA-AEEF-125C-2685-797EA0B16D48}"/>
              </a:ext>
            </a:extLst>
          </p:cNvPr>
          <p:cNvSpPr txBox="1"/>
          <p:nvPr/>
        </p:nvSpPr>
        <p:spPr>
          <a:xfrm>
            <a:off x="1887102" y="3300615"/>
            <a:ext cx="11868086" cy="487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schemeClr val="bg1"/>
                </a:solidFill>
              </a:rPr>
              <a:t>Monitorizarea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Resurselor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în</a:t>
            </a:r>
            <a:r>
              <a:rPr lang="en-US" sz="2400" b="1" dirty="0">
                <a:solidFill>
                  <a:schemeClr val="bg1"/>
                </a:solidFill>
              </a:rPr>
              <a:t> Timp real: </a:t>
            </a:r>
            <a:r>
              <a:rPr lang="en-US" sz="2400" b="1" dirty="0" err="1">
                <a:solidFill>
                  <a:schemeClr val="bg1"/>
                </a:solidFill>
              </a:rPr>
              <a:t>Interogarea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numărul</a:t>
            </a:r>
            <a:r>
              <a:rPr lang="en-US" sz="2400" b="1" dirty="0">
                <a:solidFill>
                  <a:schemeClr val="bg1"/>
                </a:solidFill>
              </a:rPr>
              <a:t> de </a:t>
            </a:r>
            <a:r>
              <a:rPr lang="en-US" sz="2400" b="1" dirty="0" err="1">
                <a:solidFill>
                  <a:schemeClr val="bg1"/>
                </a:solidFill>
              </a:rPr>
              <a:t>clienți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conectați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simultan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schemeClr val="bg1"/>
                </a:solidFill>
              </a:rPr>
              <a:t>Statistici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b="1" dirty="0" err="1">
                <a:solidFill>
                  <a:schemeClr val="bg1"/>
                </a:solidFill>
              </a:rPr>
              <a:t>Calcularea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timpului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mediu</a:t>
            </a:r>
            <a:r>
              <a:rPr lang="en-US" sz="2400" b="1" dirty="0">
                <a:solidFill>
                  <a:schemeClr val="bg1"/>
                </a:solidFill>
              </a:rPr>
              <a:t> de </a:t>
            </a:r>
            <a:r>
              <a:rPr lang="en-US" sz="2400" b="1" dirty="0" err="1">
                <a:solidFill>
                  <a:schemeClr val="bg1"/>
                </a:solidFill>
              </a:rPr>
              <a:t>execuție</a:t>
            </a:r>
            <a:r>
              <a:rPr lang="en-US" sz="2400" b="1" dirty="0">
                <a:solidFill>
                  <a:schemeClr val="bg1"/>
                </a:solidFill>
              </a:rPr>
              <a:t> per test </a:t>
            </a:r>
            <a:r>
              <a:rPr lang="en-US" sz="2400" b="1" dirty="0" err="1">
                <a:solidFill>
                  <a:schemeClr val="bg1"/>
                </a:solidFill>
              </a:rPr>
              <a:t>și</a:t>
            </a:r>
            <a:r>
              <a:rPr lang="en-US" sz="2400" b="1" dirty="0">
                <a:solidFill>
                  <a:schemeClr val="bg1"/>
                </a:solidFill>
              </a:rPr>
              <a:t> rata de </a:t>
            </a:r>
            <a:r>
              <a:rPr lang="en-US" sz="2400" b="1" dirty="0" err="1">
                <a:solidFill>
                  <a:schemeClr val="bg1"/>
                </a:solidFill>
              </a:rPr>
              <a:t>succes</a:t>
            </a:r>
            <a:r>
              <a:rPr lang="en-US" sz="2400" b="1" dirty="0">
                <a:solidFill>
                  <a:schemeClr val="bg1"/>
                </a:solidFill>
              </a:rPr>
              <a:t> a </a:t>
            </a:r>
            <a:r>
              <a:rPr lang="en-US" sz="2400" b="1" dirty="0" err="1">
                <a:solidFill>
                  <a:schemeClr val="bg1"/>
                </a:solidFill>
              </a:rPr>
              <a:t>motorului</a:t>
            </a:r>
            <a:r>
              <a:rPr lang="en-US" sz="2400" b="1" dirty="0">
                <a:solidFill>
                  <a:schemeClr val="bg1"/>
                </a:solidFill>
              </a:rPr>
              <a:t> OpenCV </a:t>
            </a:r>
          </a:p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schemeClr val="bg1"/>
                </a:solidFill>
              </a:rPr>
              <a:t>Istoric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b="1" dirty="0" err="1">
                <a:solidFill>
                  <a:schemeClr val="bg1"/>
                </a:solidFill>
              </a:rPr>
              <a:t>Istoricul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ultimelor</a:t>
            </a:r>
            <a:r>
              <a:rPr lang="en-US" sz="2400" b="1" dirty="0">
                <a:solidFill>
                  <a:schemeClr val="bg1"/>
                </a:solidFill>
              </a:rPr>
              <a:t> note </a:t>
            </a:r>
            <a:r>
              <a:rPr lang="en-US" sz="2400" b="1" dirty="0" err="1">
                <a:solidFill>
                  <a:schemeClr val="bg1"/>
                </a:solidFill>
              </a:rPr>
              <a:t>acordate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cât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și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posibilitatea</a:t>
            </a:r>
            <a:r>
              <a:rPr lang="en-US" sz="2400" b="1" dirty="0">
                <a:solidFill>
                  <a:schemeClr val="bg1"/>
                </a:solidFill>
              </a:rPr>
              <a:t> de a </a:t>
            </a:r>
            <a:r>
              <a:rPr lang="en-US" sz="2400" b="1" dirty="0" err="1">
                <a:solidFill>
                  <a:schemeClr val="bg1"/>
                </a:solidFill>
              </a:rPr>
              <a:t>vedea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procesul</a:t>
            </a:r>
            <a:r>
              <a:rPr lang="en-US" sz="2400" b="1" dirty="0">
                <a:solidFill>
                  <a:schemeClr val="bg1"/>
                </a:solidFill>
              </a:rPr>
              <a:t> care </a:t>
            </a:r>
            <a:r>
              <a:rPr lang="en-US" sz="2400" b="1" dirty="0" err="1">
                <a:solidFill>
                  <a:schemeClr val="bg1"/>
                </a:solidFill>
              </a:rPr>
              <a:t>executa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acum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lvl="0" indent="-342900">
              <a:lnSpc>
                <a:spcPct val="119958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schemeClr val="bg1"/>
                </a:solidFill>
              </a:rPr>
              <a:t>Oprirea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Sincrona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b="1" dirty="0" err="1">
                <a:solidFill>
                  <a:schemeClr val="bg1"/>
                </a:solidFill>
              </a:rPr>
              <a:t>Comanda</a:t>
            </a:r>
            <a:r>
              <a:rPr lang="en-US" sz="2400" b="1" dirty="0">
                <a:solidFill>
                  <a:schemeClr val="bg1"/>
                </a:solidFill>
              </a:rPr>
              <a:t> de </a:t>
            </a:r>
            <a:r>
              <a:rPr lang="en-US" sz="2400" b="1" dirty="0" err="1">
                <a:solidFill>
                  <a:schemeClr val="bg1"/>
                </a:solidFill>
              </a:rPr>
              <a:t>oprire</a:t>
            </a:r>
            <a:r>
              <a:rPr lang="en-US" sz="2400" b="1" dirty="0">
                <a:solidFill>
                  <a:schemeClr val="bg1"/>
                </a:solidFill>
              </a:rPr>
              <a:t> care </a:t>
            </a:r>
            <a:r>
              <a:rPr lang="en-US" sz="2400" b="1" dirty="0" err="1">
                <a:solidFill>
                  <a:schemeClr val="bg1"/>
                </a:solidFill>
              </a:rPr>
              <a:t>declanșează</a:t>
            </a:r>
            <a:r>
              <a:rPr lang="en-US" sz="2400" b="1" dirty="0">
                <a:solidFill>
                  <a:schemeClr val="bg1"/>
                </a:solidFill>
              </a:rPr>
              <a:t> un </a:t>
            </a:r>
            <a:r>
              <a:rPr lang="en-US" sz="2400" b="1" dirty="0" err="1">
                <a:solidFill>
                  <a:schemeClr val="bg1"/>
                </a:solidFill>
              </a:rPr>
              <a:t>semnal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și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închide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curat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toate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firele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și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eliberează</a:t>
            </a:r>
            <a:r>
              <a:rPr lang="en-US" sz="2400" b="1" dirty="0">
                <a:solidFill>
                  <a:schemeClr val="bg1"/>
                </a:solidFill>
              </a:rPr>
              <a:t> memoria</a:t>
            </a:r>
            <a:endParaRPr lang="en-US" sz="2400" b="1" i="0" u="none" strike="noStrike" cap="none" dirty="0">
              <a:solidFill>
                <a:schemeClr val="bg1"/>
              </a:solidFill>
              <a:latin typeface="Inclusive Sans"/>
              <a:ea typeface="Inclusive Sans"/>
              <a:cs typeface="Inclusive Sans"/>
              <a:sym typeface="Inclusiv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8051A-442A-0E5C-E989-B825D055506E}"/>
              </a:ext>
            </a:extLst>
          </p:cNvPr>
          <p:cNvSpPr txBox="1"/>
          <p:nvPr/>
        </p:nvSpPr>
        <p:spPr>
          <a:xfrm>
            <a:off x="3237575" y="1285752"/>
            <a:ext cx="11812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solidFill>
                  <a:srgbClr val="7030A0"/>
                </a:solidFill>
              </a:rPr>
              <a:t>Funcționalitățile</a:t>
            </a:r>
            <a:r>
              <a:rPr lang="en-US" sz="4000" b="1" dirty="0">
                <a:solidFill>
                  <a:srgbClr val="7030A0"/>
                </a:solidFill>
              </a:rPr>
              <a:t> </a:t>
            </a:r>
            <a:r>
              <a:rPr lang="en-US" sz="4000" b="1" dirty="0" err="1">
                <a:solidFill>
                  <a:srgbClr val="7030A0"/>
                </a:solidFill>
              </a:rPr>
              <a:t>și</a:t>
            </a:r>
            <a:r>
              <a:rPr lang="en-US" sz="4000" b="1" dirty="0">
                <a:solidFill>
                  <a:srgbClr val="7030A0"/>
                </a:solidFill>
              </a:rPr>
              <a:t> </a:t>
            </a:r>
            <a:r>
              <a:rPr lang="en-US" sz="4000" b="1" dirty="0" err="1">
                <a:solidFill>
                  <a:srgbClr val="7030A0"/>
                </a:solidFill>
              </a:rPr>
              <a:t>Comenzile</a:t>
            </a:r>
            <a:r>
              <a:rPr lang="en-US" sz="4000" b="1" dirty="0">
                <a:solidFill>
                  <a:srgbClr val="7030A0"/>
                </a:solidFill>
              </a:rPr>
              <a:t> </a:t>
            </a:r>
            <a:r>
              <a:rPr lang="en-US" sz="4000" b="1" dirty="0" err="1">
                <a:solidFill>
                  <a:srgbClr val="7030A0"/>
                </a:solidFill>
              </a:rPr>
              <a:t>Administratorului</a:t>
            </a:r>
            <a:endParaRPr lang="en-US" sz="4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68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D39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4"/>
          <p:cNvPicPr preferRelativeResize="0"/>
          <p:nvPr/>
        </p:nvPicPr>
        <p:blipFill rotWithShape="1">
          <a:blip r:embed="rId3">
            <a:alphaModFix/>
          </a:blip>
          <a:srcRect l="12157"/>
          <a:stretch/>
        </p:blipFill>
        <p:spPr>
          <a:xfrm>
            <a:off x="0" y="0"/>
            <a:ext cx="8398601" cy="1028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10170838" y="3315499"/>
            <a:ext cx="7675202" cy="365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99" b="0" i="0" u="none" strike="noStrike" cap="none" dirty="0" err="1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Mulțumim</a:t>
            </a:r>
            <a:r>
              <a:rPr lang="en-US" sz="7199" b="0" i="0" u="none" strike="noStrike" cap="none" dirty="0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7199" b="0" i="0" u="none" strike="noStrike" cap="none" dirty="0" err="1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pentru</a:t>
            </a:r>
            <a:r>
              <a:rPr lang="en-US" sz="7199" b="0" i="0" u="none" strike="noStrike" cap="none" dirty="0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7199" b="0" i="0" u="none" strike="noStrike" cap="none" dirty="0" err="1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atenția</a:t>
            </a:r>
            <a:r>
              <a:rPr lang="en-US" sz="7199" b="0" i="0" u="none" strike="noStrike" cap="none" dirty="0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7199" b="0" i="0" u="none" strike="noStrike" cap="none" dirty="0" err="1">
                <a:solidFill>
                  <a:srgbClr val="FFFFFF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acordată</a:t>
            </a:r>
            <a:endParaRPr lang="en-US" dirty="0"/>
          </a:p>
        </p:txBody>
      </p:sp>
      <p:sp>
        <p:nvSpPr>
          <p:cNvPr id="364" name="Google Shape;364;p24"/>
          <p:cNvSpPr txBox="1"/>
          <p:nvPr/>
        </p:nvSpPr>
        <p:spPr>
          <a:xfrm>
            <a:off x="381000" y="9614535"/>
            <a:ext cx="431482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F9F6FF"/>
                </a:solidFill>
                <a:latin typeface="Inclusive Sans"/>
                <a:ea typeface="Inclusive Sans"/>
                <a:cs typeface="Inclusive Sans"/>
                <a:sym typeface="Inclusive San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overview page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688</Words>
  <Application>Microsoft Office PowerPoint</Application>
  <PresentationFormat>Particularizare</PresentationFormat>
  <Paragraphs>128</Paragraphs>
  <Slides>12</Slides>
  <Notes>11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9" baseType="lpstr">
      <vt:lpstr>Arial</vt:lpstr>
      <vt:lpstr>Merriweather Sans Light</vt:lpstr>
      <vt:lpstr>Calibri</vt:lpstr>
      <vt:lpstr>Wingdings</vt:lpstr>
      <vt:lpstr>Merriweather Sans</vt:lpstr>
      <vt:lpstr>Inclusive Sans</vt:lpstr>
      <vt:lpstr>Office Theme</vt:lpstr>
      <vt:lpstr>Prezentare PowerPoint</vt:lpstr>
      <vt:lpstr>Prezentare PowerPoint</vt:lpstr>
      <vt:lpstr>Prezentarea temei </vt:lpstr>
      <vt:lpstr>Prezentare PowerPoint</vt:lpstr>
      <vt:lpstr>Prezentare PowerPoint</vt:lpstr>
      <vt:lpstr>Prezentare PowerPoint</vt:lpstr>
      <vt:lpstr>Prezentare PowerPoint</vt:lpstr>
      <vt:lpstr>Trezirea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Luky Puky</dc:creator>
  <cp:lastModifiedBy>Alexandru Botiz</cp:lastModifiedBy>
  <cp:revision>61</cp:revision>
  <dcterms:modified xsi:type="dcterms:W3CDTF">2026-06-15T06:06:11Z</dcterms:modified>
</cp:coreProperties>
</file>