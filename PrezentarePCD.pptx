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8" r:id="rId12"/>
    <p:sldId id="267" r:id="rId13"/>
  </p:sldIdLst>
  <p:sldSz cx="18288000" cy="10287000"/>
  <p:notesSz cx="6858000" cy="9144000"/>
  <p:embeddedFontLst>
    <p:embeddedFont>
      <p:font typeface="Inclusive Sans" panose="020B0604020202020204" charset="0"/>
      <p:regular r:id="rId15"/>
      <p:bold r:id="rId16"/>
      <p:italic r:id="rId17"/>
      <p:boldItalic r:id="rId18"/>
    </p:embeddedFont>
    <p:embeddedFont>
      <p:font typeface="Merriweather Sans" pitchFamily="2" charset="-18"/>
      <p:regular r:id="rId19"/>
      <p:bold r:id="rId20"/>
      <p:italic r:id="rId21"/>
      <p:boldItalic r:id="rId22"/>
    </p:embeddedFont>
    <p:embeddedFont>
      <p:font typeface="Merriweather Sans Light" pitchFamily="2" charset="-18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CF2951D-F056-4EE1-9A8E-40653F2748D4}">
  <a:tblStyle styleId="{1CF2951D-F056-4EE1-9A8E-40653F2748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610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1B0D39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/>
          <p:cNvPicPr preferRelativeResize="0"/>
          <p:nvPr/>
        </p:nvPicPr>
        <p:blipFill rotWithShape="1">
          <a:blip r:embed="rId2">
            <a:alphaModFix/>
          </a:blip>
          <a:srcRect l="7201"/>
          <a:stretch/>
        </p:blipFill>
        <p:spPr>
          <a:xfrm>
            <a:off x="1" y="0"/>
            <a:ext cx="7980601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9042750" y="1408986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9042750" y="6730900"/>
            <a:ext cx="8229600" cy="18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7075" y="-26750"/>
            <a:ext cx="18342149" cy="1033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545200" y="2993078"/>
            <a:ext cx="8229600" cy="3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SzPts val="10000"/>
              <a:buFont typeface="Merriweather Sans"/>
              <a:buNone/>
              <a:defRPr sz="1000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10313075" y="1861175"/>
            <a:ext cx="6959400" cy="667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SzPts val="1800"/>
              <a:buFont typeface="Inclusive Sans"/>
              <a:buChar char="–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–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»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oogle Shape;24;p5"/>
          <p:cNvGrpSpPr/>
          <p:nvPr/>
        </p:nvGrpSpPr>
        <p:grpSpPr>
          <a:xfrm>
            <a:off x="-1633480" y="2465538"/>
            <a:ext cx="10036504" cy="5756817"/>
            <a:chOff x="0" y="0"/>
            <a:chExt cx="7981950" cy="4578350"/>
          </a:xfrm>
        </p:grpSpPr>
        <p:sp>
          <p:nvSpPr>
            <p:cNvPr id="25" name="Google Shape;25;p5"/>
            <p:cNvSpPr/>
            <p:nvPr/>
          </p:nvSpPr>
          <p:spPr>
            <a:xfrm>
              <a:off x="765810" y="21590"/>
              <a:ext cx="6451600" cy="4326890"/>
            </a:xfrm>
            <a:custGeom>
              <a:avLst/>
              <a:gdLst/>
              <a:ahLst/>
              <a:cxnLst/>
              <a:rect l="l" t="t" r="r" b="b"/>
              <a:pathLst>
                <a:path w="6451600" h="4326890" extrusionOk="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5"/>
            <p:cNvSpPr/>
            <p:nvPr/>
          </p:nvSpPr>
          <p:spPr>
            <a:xfrm>
              <a:off x="0" y="0"/>
              <a:ext cx="7981950" cy="4542790"/>
            </a:xfrm>
            <a:custGeom>
              <a:avLst/>
              <a:gdLst/>
              <a:ahLst/>
              <a:cxnLst/>
              <a:rect l="l" t="t" r="r" b="b"/>
              <a:pathLst>
                <a:path w="7981950" h="4542790" extrusionOk="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5"/>
            <p:cNvSpPr/>
            <p:nvPr/>
          </p:nvSpPr>
          <p:spPr>
            <a:xfrm>
              <a:off x="3460750" y="4349750"/>
              <a:ext cx="1059180" cy="96520"/>
            </a:xfrm>
            <a:custGeom>
              <a:avLst/>
              <a:gdLst/>
              <a:ahLst/>
              <a:cxnLst/>
              <a:rect l="l" t="t" r="r" b="b"/>
              <a:pathLst>
                <a:path w="1059180" h="96520" extrusionOk="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5"/>
            <p:cNvSpPr/>
            <p:nvPr/>
          </p:nvSpPr>
          <p:spPr>
            <a:xfrm>
              <a:off x="163830" y="4542790"/>
              <a:ext cx="7654290" cy="35560"/>
            </a:xfrm>
            <a:custGeom>
              <a:avLst/>
              <a:gdLst/>
              <a:ahLst/>
              <a:cxnLst/>
              <a:rect l="l" t="t" r="r" b="b"/>
              <a:pathLst>
                <a:path w="7654290" h="35560" extrusionOk="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" name="Google Shape;29;p5"/>
          <p:cNvGrpSpPr/>
          <p:nvPr/>
        </p:nvGrpSpPr>
        <p:grpSpPr>
          <a:xfrm>
            <a:off x="0" y="-325489"/>
            <a:ext cx="18288118" cy="706493"/>
            <a:chOff x="0" y="-85725"/>
            <a:chExt cx="4816592" cy="186071"/>
          </a:xfrm>
        </p:grpSpPr>
        <p:sp>
          <p:nvSpPr>
            <p:cNvPr id="30" name="Google Shape;30;p5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</p:sp>
        <p:sp>
          <p:nvSpPr>
            <p:cNvPr id="31" name="Google Shape;31;p5"/>
            <p:cNvSpPr txBox="1"/>
            <p:nvPr/>
          </p:nvSpPr>
          <p:spPr>
            <a:xfrm>
              <a:off x="0" y="-85725"/>
              <a:ext cx="4816500" cy="1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9042750" y="1762292"/>
            <a:ext cx="8229600" cy="244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A477FF"/>
              </a:buClr>
              <a:buSzPts val="7000"/>
              <a:buFont typeface="Merriweather Sans"/>
              <a:buNone/>
              <a:defRPr sz="7000" i="0" u="none" strike="noStrike" cap="none">
                <a:solidFill>
                  <a:srgbClr val="A477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9042750" y="4597188"/>
            <a:ext cx="8229600" cy="42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-443300" y="2796650"/>
            <a:ext cx="7656600" cy="4820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/>
          <p:nvPr/>
        </p:nvSpPr>
        <p:spPr>
          <a:xfrm>
            <a:off x="1234549" y="846026"/>
            <a:ext cx="6517859" cy="8596697"/>
          </a:xfrm>
          <a:custGeom>
            <a:avLst/>
            <a:gdLst/>
            <a:ahLst/>
            <a:cxnLst/>
            <a:rect l="l" t="t" r="r" b="b"/>
            <a:pathLst>
              <a:path w="5152458" h="6795808" extrusionOk="0">
                <a:moveTo>
                  <a:pt x="0" y="0"/>
                </a:moveTo>
                <a:lnTo>
                  <a:pt x="5152458" y="0"/>
                </a:lnTo>
                <a:lnTo>
                  <a:pt x="5152458" y="6795808"/>
                </a:lnTo>
                <a:lnTo>
                  <a:pt x="0" y="67958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9042750" y="1408986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9042750" y="6730900"/>
            <a:ext cx="8229600" cy="18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7"/>
          <p:cNvPicPr preferRelativeResize="0"/>
          <p:nvPr/>
        </p:nvPicPr>
        <p:blipFill rotWithShape="1">
          <a:blip r:embed="rId2">
            <a:alphaModFix/>
          </a:blip>
          <a:srcRect t="51837" r="418"/>
          <a:stretch/>
        </p:blipFill>
        <p:spPr>
          <a:xfrm>
            <a:off x="6778251" y="0"/>
            <a:ext cx="11509749" cy="3474624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907025" y="4078511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1046475" y="4239000"/>
            <a:ext cx="6434400" cy="50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4400"/>
              <a:buFont typeface="Merriweather Sans"/>
              <a:buNone/>
              <a:defRPr sz="44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–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–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»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slide" Target="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oogle Shape;79;p13"/>
          <p:cNvGrpSpPr/>
          <p:nvPr/>
        </p:nvGrpSpPr>
        <p:grpSpPr>
          <a:xfrm>
            <a:off x="8843821" y="6133405"/>
            <a:ext cx="9063180" cy="2974053"/>
            <a:chOff x="0" y="-3"/>
            <a:chExt cx="2387010" cy="161700"/>
          </a:xfrm>
        </p:grpSpPr>
        <p:sp>
          <p:nvSpPr>
            <p:cNvPr id="80" name="Google Shape;80;p13"/>
            <p:cNvSpPr/>
            <p:nvPr/>
          </p:nvSpPr>
          <p:spPr>
            <a:xfrm>
              <a:off x="0" y="0"/>
              <a:ext cx="2387010" cy="161597"/>
            </a:xfrm>
            <a:custGeom>
              <a:avLst/>
              <a:gdLst/>
              <a:ahLst/>
              <a:cxnLst/>
              <a:rect l="l" t="t" r="r" b="b"/>
              <a:pathLst>
                <a:path w="2387010" h="161597" extrusionOk="0">
                  <a:moveTo>
                    <a:pt x="8542" y="0"/>
                  </a:moveTo>
                  <a:lnTo>
                    <a:pt x="2378468" y="0"/>
                  </a:lnTo>
                  <a:cubicBezTo>
                    <a:pt x="2383186" y="0"/>
                    <a:pt x="2387010" y="3824"/>
                    <a:pt x="2387010" y="8542"/>
                  </a:cubicBezTo>
                  <a:lnTo>
                    <a:pt x="2387010" y="153055"/>
                  </a:lnTo>
                  <a:cubicBezTo>
                    <a:pt x="2387010" y="155320"/>
                    <a:pt x="2386110" y="157493"/>
                    <a:pt x="2384508" y="159095"/>
                  </a:cubicBezTo>
                  <a:cubicBezTo>
                    <a:pt x="2382906" y="160697"/>
                    <a:pt x="2380734" y="161597"/>
                    <a:pt x="2378468" y="161597"/>
                  </a:cubicBezTo>
                  <a:lnTo>
                    <a:pt x="8542" y="161597"/>
                  </a:lnTo>
                  <a:cubicBezTo>
                    <a:pt x="6277" y="161597"/>
                    <a:pt x="4104" y="160697"/>
                    <a:pt x="2502" y="159095"/>
                  </a:cubicBezTo>
                  <a:cubicBezTo>
                    <a:pt x="900" y="157493"/>
                    <a:pt x="0" y="155320"/>
                    <a:pt x="0" y="153055"/>
                  </a:cubicBezTo>
                  <a:lnTo>
                    <a:pt x="0" y="8542"/>
                  </a:lnTo>
                  <a:cubicBezTo>
                    <a:pt x="0" y="6277"/>
                    <a:pt x="900" y="4104"/>
                    <a:pt x="2502" y="2502"/>
                  </a:cubicBezTo>
                  <a:cubicBezTo>
                    <a:pt x="4104" y="900"/>
                    <a:pt x="6277" y="0"/>
                    <a:pt x="8542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3"/>
            <p:cNvSpPr txBox="1"/>
            <p:nvPr/>
          </p:nvSpPr>
          <p:spPr>
            <a:xfrm>
              <a:off x="1" y="-3"/>
              <a:ext cx="2387009" cy="1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Oiaga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Lucas-Paul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Botiz Alexandru-Gabriel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Onofrei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Flavius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Șușman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Andrei-Alexandru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Miclău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Nicolae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endParaRPr lang="en-US" dirty="0"/>
            </a:p>
          </p:txBody>
        </p:sp>
      </p:grpSp>
      <p:sp>
        <p:nvSpPr>
          <p:cNvPr id="82" name="Google Shape;82;p13"/>
          <p:cNvSpPr txBox="1"/>
          <p:nvPr/>
        </p:nvSpPr>
        <p:spPr>
          <a:xfrm>
            <a:off x="8843820" y="2932529"/>
            <a:ext cx="9063300" cy="3200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00" b="0" i="0" u="none" strike="noStrike" cap="none" dirty="0">
                <a:solidFill>
                  <a:srgbClr val="F9F6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Grading App PCD</a:t>
            </a:r>
            <a:endParaRPr lang="en-US" dirty="0"/>
          </a:p>
        </p:txBody>
      </p:sp>
      <p:sp>
        <p:nvSpPr>
          <p:cNvPr id="84" name="Google Shape;84;p13"/>
          <p:cNvSpPr txBox="1"/>
          <p:nvPr/>
        </p:nvSpPr>
        <p:spPr>
          <a:xfrm>
            <a:off x="16261882" y="9107459"/>
            <a:ext cx="1645118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15.06.</a:t>
            </a:r>
            <a:r>
              <a:rPr lang="en-US" sz="21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2026</a:t>
            </a:r>
            <a:endParaRPr lang="en-US" dirty="0"/>
          </a:p>
        </p:txBody>
      </p:sp>
      <p:pic>
        <p:nvPicPr>
          <p:cNvPr id="86" name="Google Shape;86;p13"/>
          <p:cNvPicPr preferRelativeResize="0"/>
          <p:nvPr/>
        </p:nvPicPr>
        <p:blipFill rotWithShape="1">
          <a:blip r:embed="rId3">
            <a:alphaModFix/>
          </a:blip>
          <a:srcRect l="7201"/>
          <a:stretch/>
        </p:blipFill>
        <p:spPr>
          <a:xfrm>
            <a:off x="1" y="0"/>
            <a:ext cx="7980601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7075" y="-26750"/>
            <a:ext cx="18342149" cy="1033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381000" y="4088130"/>
            <a:ext cx="7124700" cy="157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00" b="0" i="0" u="none" strike="noStrike" cap="none" dirty="0">
                <a:solidFill>
                  <a:srgbClr val="F9F6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Overview</a:t>
            </a:r>
            <a:endParaRPr dirty="0"/>
          </a:p>
        </p:txBody>
      </p:sp>
      <p:sp>
        <p:nvSpPr>
          <p:cNvPr id="93" name="Google Shape;93;p14"/>
          <p:cNvSpPr txBox="1"/>
          <p:nvPr/>
        </p:nvSpPr>
        <p:spPr>
          <a:xfrm>
            <a:off x="9962394" y="993865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 dirty="0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01</a:t>
            </a:r>
            <a:endParaRPr dirty="0"/>
          </a:p>
        </p:txBody>
      </p:sp>
      <p:sp>
        <p:nvSpPr>
          <p:cNvPr id="94" name="Google Shape;94;p14"/>
          <p:cNvSpPr txBox="1"/>
          <p:nvPr/>
        </p:nvSpPr>
        <p:spPr>
          <a:xfrm>
            <a:off x="9962394" y="1857621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02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9962394" y="2769401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03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962394" y="3681182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04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962394" y="4592938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05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962394" y="5417818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06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962394" y="6416504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07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9962394" y="7328279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08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9962394" y="8240060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 dirty="0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09</a:t>
            </a:r>
            <a:endParaRPr dirty="0"/>
          </a:p>
        </p:txBody>
      </p:sp>
      <p:sp>
        <p:nvSpPr>
          <p:cNvPr id="102" name="Google Shape;102;p14"/>
          <p:cNvSpPr txBox="1"/>
          <p:nvPr/>
        </p:nvSpPr>
        <p:spPr>
          <a:xfrm>
            <a:off x="11309204" y="681451"/>
            <a:ext cx="6580559" cy="1107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Prezentarea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temei</a:t>
            </a:r>
            <a:endParaRPr dirty="0"/>
          </a:p>
        </p:txBody>
      </p:sp>
      <p:sp>
        <p:nvSpPr>
          <p:cNvPr id="103" name="Google Shape;103;p14"/>
          <p:cNvSpPr txBox="1"/>
          <p:nvPr/>
        </p:nvSpPr>
        <p:spPr>
          <a:xfrm>
            <a:off x="11322852" y="1611423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Arhitectura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proiectului</a:t>
            </a:r>
            <a:endParaRPr dirty="0"/>
          </a:p>
        </p:txBody>
      </p:sp>
      <p:sp>
        <p:nvSpPr>
          <p:cNvPr id="104" name="Google Shape;104;p14"/>
          <p:cNvSpPr txBox="1"/>
          <p:nvPr/>
        </p:nvSpPr>
        <p:spPr>
          <a:xfrm>
            <a:off x="11309204" y="2472405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Serverul</a:t>
            </a:r>
            <a:endParaRPr dirty="0"/>
          </a:p>
        </p:txBody>
      </p:sp>
      <p:sp>
        <p:nvSpPr>
          <p:cNvPr id="105" name="Google Shape;105;p14"/>
          <p:cNvSpPr txBox="1"/>
          <p:nvPr/>
        </p:nvSpPr>
        <p:spPr>
          <a:xfrm>
            <a:off x="11322852" y="3381520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Rolul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firelor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de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Execuție</a:t>
            </a:r>
            <a:endParaRPr lang="en-US" sz="3600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11322852" y="4263358"/>
            <a:ext cx="6597796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Workflow-ul Aplicației Pasul 1</a:t>
            </a:r>
          </a:p>
        </p:txBody>
      </p:sp>
      <p:sp>
        <p:nvSpPr>
          <p:cNvPr id="107" name="Google Shape;107;p14"/>
          <p:cNvSpPr txBox="1"/>
          <p:nvPr/>
        </p:nvSpPr>
        <p:spPr>
          <a:xfrm>
            <a:off x="11295556" y="5138750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Aplicației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Pasul 2</a:t>
            </a:r>
          </a:p>
        </p:txBody>
      </p:sp>
      <p:sp>
        <p:nvSpPr>
          <p:cNvPr id="108" name="Google Shape;108;p14"/>
          <p:cNvSpPr txBox="1"/>
          <p:nvPr/>
        </p:nvSpPr>
        <p:spPr>
          <a:xfrm>
            <a:off x="11322852" y="6077364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Aplicației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Pasul 3</a:t>
            </a:r>
            <a:endParaRPr lang="en-US" sz="3600" dirty="0"/>
          </a:p>
        </p:txBody>
      </p:sp>
      <p:sp>
        <p:nvSpPr>
          <p:cNvPr id="109" name="Google Shape;109;p14"/>
          <p:cNvSpPr txBox="1"/>
          <p:nvPr/>
        </p:nvSpPr>
        <p:spPr>
          <a:xfrm>
            <a:off x="11295555" y="7032104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Oprirea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Sincronă</a:t>
            </a:r>
            <a:endParaRPr lang="en-US" sz="3600" b="0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11322852" y="7916451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Partea</a:t>
            </a:r>
            <a:r>
              <a:rPr lang="en-US" sz="3600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Admin</a:t>
            </a:r>
            <a:endParaRPr lang="en-US" sz="3600" b="0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</p:txBody>
      </p: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" name="Google Shape;121;p15"/>
          <p:cNvGrpSpPr/>
          <p:nvPr/>
        </p:nvGrpSpPr>
        <p:grpSpPr>
          <a:xfrm>
            <a:off x="0" y="-325486"/>
            <a:ext cx="18288000" cy="706486"/>
            <a:chOff x="0" y="-85725"/>
            <a:chExt cx="4816593" cy="186071"/>
          </a:xfrm>
        </p:grpSpPr>
        <p:sp>
          <p:nvSpPr>
            <p:cNvPr id="122" name="Google Shape;122;p15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/>
            <a:lstStyle/>
            <a:p>
              <a:endParaRPr lang="ro-RO"/>
            </a:p>
          </p:txBody>
        </p:sp>
        <p:sp>
          <p:nvSpPr>
            <p:cNvPr id="123" name="Google Shape;123;p15"/>
            <p:cNvSpPr txBox="1"/>
            <p:nvPr/>
          </p:nvSpPr>
          <p:spPr>
            <a:xfrm>
              <a:off x="0" y="-85725"/>
              <a:ext cx="4816593" cy="1860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5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7" name="Titlu 6">
            <a:extLst>
              <a:ext uri="{FF2B5EF4-FFF2-40B4-BE49-F238E27FC236}">
                <a16:creationId xmlns:a16="http://schemas.microsoft.com/office/drawing/2014/main" id="{4475FC7C-F7F5-2BEC-B873-43C9AD98A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o-RO" dirty="0"/>
              <a:t>Prezentarea temei</a:t>
            </a:r>
            <a:br>
              <a:rPr lang="ro-RO" dirty="0"/>
            </a:br>
            <a:endParaRPr lang="ro-RO" dirty="0"/>
          </a:p>
        </p:txBody>
      </p:sp>
      <p:sp>
        <p:nvSpPr>
          <p:cNvPr id="8" name="Substituent text 7">
            <a:extLst>
              <a:ext uri="{FF2B5EF4-FFF2-40B4-BE49-F238E27FC236}">
                <a16:creationId xmlns:a16="http://schemas.microsoft.com/office/drawing/2014/main" id="{E5606ED5-60D8-0B22-A0E5-442A4A20E4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9866" y="5143501"/>
            <a:ext cx="6434400" cy="3945908"/>
          </a:xfrm>
        </p:spPr>
        <p:txBody>
          <a:bodyPr>
            <a:noAutofit/>
          </a:bodyPr>
          <a:lstStyle/>
          <a:p>
            <a:r>
              <a:rPr lang="ro-RO" sz="2800" dirty="0"/>
              <a:t>Serverul detectează (</a:t>
            </a:r>
            <a:r>
              <a:rPr lang="ro-RO" sz="2800" dirty="0" err="1"/>
              <a:t>Image</a:t>
            </a:r>
            <a:r>
              <a:rPr lang="ro-RO" sz="2800" dirty="0"/>
              <a:t> </a:t>
            </a:r>
            <a:r>
              <a:rPr lang="ro-RO" sz="2800" dirty="0" err="1"/>
              <a:t>detection</a:t>
            </a:r>
            <a:r>
              <a:rPr lang="ro-RO" sz="2800" dirty="0"/>
              <a:t>) răspunsurile selectate de studenți</a:t>
            </a:r>
            <a:r>
              <a:rPr lang="en-US" sz="2800" dirty="0"/>
              <a:t>.</a:t>
            </a:r>
          </a:p>
          <a:p>
            <a:r>
              <a:rPr lang="en-US" sz="2800" dirty="0"/>
              <a:t>C</a:t>
            </a:r>
            <a:r>
              <a:rPr lang="ro-RO" sz="2800" dirty="0"/>
              <a:t>ompară răspunsurile studenți</a:t>
            </a:r>
            <a:r>
              <a:rPr lang="en-US" sz="2800" dirty="0"/>
              <a:t>lor </a:t>
            </a:r>
            <a:r>
              <a:rPr lang="ro-RO" sz="2800" dirty="0"/>
              <a:t>cu răspunsurile corecte</a:t>
            </a:r>
            <a:r>
              <a:rPr lang="en-US" sz="2800" dirty="0"/>
              <a:t>.</a:t>
            </a:r>
          </a:p>
          <a:p>
            <a:r>
              <a:rPr lang="en-US" sz="2800" dirty="0" err="1"/>
              <a:t>Adună</a:t>
            </a:r>
            <a:r>
              <a:rPr lang="en-US" sz="2800" dirty="0"/>
              <a:t> </a:t>
            </a:r>
            <a:r>
              <a:rPr lang="en-US" sz="2800" dirty="0" err="1"/>
              <a:t>valorile</a:t>
            </a:r>
            <a:r>
              <a:rPr lang="en-US" sz="2800" dirty="0"/>
              <a:t> </a:t>
            </a:r>
            <a:r>
              <a:rPr lang="en-US" sz="2800" dirty="0" err="1"/>
              <a:t>corecte</a:t>
            </a:r>
            <a:r>
              <a:rPr lang="en-US" sz="2800" dirty="0"/>
              <a:t> </a:t>
            </a:r>
            <a:r>
              <a:rPr lang="en-US" sz="2800" dirty="0" err="1"/>
              <a:t>și</a:t>
            </a:r>
            <a:r>
              <a:rPr lang="en-US" sz="2800" dirty="0"/>
              <a:t> </a:t>
            </a:r>
            <a:r>
              <a:rPr lang="en-US" sz="2800" dirty="0" err="1"/>
              <a:t>returnează</a:t>
            </a:r>
            <a:r>
              <a:rPr lang="en-US" sz="2800" dirty="0"/>
              <a:t> nota </a:t>
            </a:r>
            <a:r>
              <a:rPr lang="en-US" sz="2800" dirty="0" err="1"/>
              <a:t>finală</a:t>
            </a:r>
            <a:r>
              <a:rPr lang="en-US" sz="2800" dirty="0"/>
              <a:t> </a:t>
            </a:r>
            <a:r>
              <a:rPr lang="en-US" sz="2800" dirty="0" err="1"/>
              <a:t>obținută</a:t>
            </a:r>
            <a:r>
              <a:rPr lang="en-US" sz="2800" dirty="0"/>
              <a:t> la </a:t>
            </a:r>
            <a:r>
              <a:rPr lang="en-US" sz="2800" dirty="0" err="1"/>
              <a:t>testul</a:t>
            </a:r>
            <a:r>
              <a:rPr lang="en-US" sz="2800" dirty="0"/>
              <a:t> </a:t>
            </a:r>
            <a:r>
              <a:rPr lang="en-US" sz="2800" dirty="0" err="1"/>
              <a:t>grilă</a:t>
            </a:r>
            <a:r>
              <a:rPr lang="en-US" sz="2800" dirty="0"/>
              <a:t>.</a:t>
            </a:r>
          </a:p>
          <a:p>
            <a:endParaRPr lang="ro-RO" sz="2800" dirty="0"/>
          </a:p>
        </p:txBody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4FD99AF7-D264-BBC2-1971-4F73DC37E98B}"/>
              </a:ext>
            </a:extLst>
          </p:cNvPr>
          <p:cNvSpPr txBox="1"/>
          <p:nvPr/>
        </p:nvSpPr>
        <p:spPr>
          <a:xfrm>
            <a:off x="9751911" y="4078511"/>
            <a:ext cx="6202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3600" dirty="0" err="1">
                <a:solidFill>
                  <a:schemeClr val="bg1"/>
                </a:solidFill>
              </a:rPr>
              <a:t>Grading</a:t>
            </a:r>
            <a:r>
              <a:rPr lang="ro-RO" sz="3600" dirty="0">
                <a:solidFill>
                  <a:schemeClr val="bg1"/>
                </a:solidFill>
              </a:rPr>
              <a:t> </a:t>
            </a:r>
            <a:r>
              <a:rPr lang="ro-RO" sz="3600" dirty="0" err="1">
                <a:solidFill>
                  <a:schemeClr val="bg1"/>
                </a:solidFill>
              </a:rPr>
              <a:t>App</a:t>
            </a:r>
            <a:r>
              <a:rPr lang="ro-RO" sz="3600" dirty="0">
                <a:solidFill>
                  <a:schemeClr val="bg1"/>
                </a:solidFill>
              </a:rPr>
              <a:t> (</a:t>
            </a:r>
            <a:r>
              <a:rPr lang="ro-RO" sz="3600" dirty="0" err="1">
                <a:solidFill>
                  <a:schemeClr val="bg1"/>
                </a:solidFill>
              </a:rPr>
              <a:t>ZipGrade</a:t>
            </a:r>
            <a:r>
              <a:rPr lang="ro-RO" sz="3600" dirty="0">
                <a:solidFill>
                  <a:schemeClr val="bg1"/>
                </a:solidFill>
              </a:rPr>
              <a:t> </a:t>
            </a:r>
            <a:r>
              <a:rPr lang="ro-RO" sz="3600" dirty="0" err="1">
                <a:solidFill>
                  <a:schemeClr val="bg1"/>
                </a:solidFill>
              </a:rPr>
              <a:t>Like</a:t>
            </a:r>
            <a:r>
              <a:rPr lang="ro-RO" sz="3600" dirty="0">
                <a:solidFill>
                  <a:schemeClr val="bg1"/>
                </a:solidFill>
              </a:rPr>
              <a:t>)</a:t>
            </a:r>
          </a:p>
        </p:txBody>
      </p:sp>
    </p:spTree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"/>
          <p:cNvSpPr txBox="1"/>
          <p:nvPr/>
        </p:nvSpPr>
        <p:spPr>
          <a:xfrm>
            <a:off x="381000" y="381000"/>
            <a:ext cx="80010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 err="1">
                <a:solidFill>
                  <a:srgbClr val="A477FF"/>
                </a:solidFill>
                <a:latin typeface="Merriweather Sans Light"/>
                <a:sym typeface="Merriweather Sans Light"/>
              </a:rPr>
              <a:t>Arhitectura</a:t>
            </a:r>
            <a:r>
              <a:rPr lang="en-US" sz="5400" dirty="0">
                <a:solidFill>
                  <a:srgbClr val="A477FF"/>
                </a:solidFill>
                <a:latin typeface="Merriweather Sans Light"/>
                <a:sym typeface="Merriweather Sans Light"/>
              </a:rPr>
              <a:t> </a:t>
            </a:r>
            <a:r>
              <a:rPr lang="en-US" sz="5400" dirty="0" err="1">
                <a:solidFill>
                  <a:srgbClr val="A477FF"/>
                </a:solidFill>
                <a:latin typeface="Merriweather Sans Light"/>
                <a:sym typeface="Merriweather Sans Light"/>
              </a:rPr>
              <a:t>proiectului</a:t>
            </a:r>
            <a:endParaRPr sz="5400" dirty="0"/>
          </a:p>
        </p:txBody>
      </p:sp>
      <p:sp>
        <p:nvSpPr>
          <p:cNvPr id="135" name="Google Shape;135;p16"/>
          <p:cNvSpPr txBox="1"/>
          <p:nvPr/>
        </p:nvSpPr>
        <p:spPr>
          <a:xfrm>
            <a:off x="1757683" y="2399082"/>
            <a:ext cx="3537647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Server + Client</a:t>
            </a:r>
            <a:endParaRPr sz="4000" dirty="0"/>
          </a:p>
        </p:txBody>
      </p:sp>
      <p:sp>
        <p:nvSpPr>
          <p:cNvPr id="136" name="Google Shape;136;p16"/>
          <p:cNvSpPr txBox="1"/>
          <p:nvPr/>
        </p:nvSpPr>
        <p:spPr>
          <a:xfrm>
            <a:off x="381000" y="3903622"/>
            <a:ext cx="6593006" cy="3185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Connection-per-Request</a:t>
            </a:r>
            <a:endParaRPr lang="en-US" sz="3600" b="1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Relație</a:t>
            </a: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1 to many</a:t>
            </a:r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Multiplexare</a:t>
            </a: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cu poll()</a:t>
            </a:r>
            <a:endParaRPr sz="3600" dirty="0"/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it-IT" sz="36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</a:t>
            </a:r>
            <a:r>
              <a:rPr lang="it-IT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rocesare decuplată prin coadă FIFO</a:t>
            </a:r>
            <a:endParaRPr sz="3600" dirty="0"/>
          </a:p>
        </p:txBody>
      </p:sp>
      <p:sp>
        <p:nvSpPr>
          <p:cNvPr id="137" name="Google Shape;137;p16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D5A779-3B4C-F3AE-8871-2EC82A6F3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30" y="2399082"/>
            <a:ext cx="10652889" cy="54888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17"/>
          <p:cNvGrpSpPr/>
          <p:nvPr/>
        </p:nvGrpSpPr>
        <p:grpSpPr>
          <a:xfrm>
            <a:off x="2041841" y="3451739"/>
            <a:ext cx="5433373" cy="738383"/>
            <a:chOff x="0" y="0"/>
            <a:chExt cx="1431002" cy="194470"/>
          </a:xfrm>
        </p:grpSpPr>
        <p:sp>
          <p:nvSpPr>
            <p:cNvPr id="145" name="Google Shape;145;p17"/>
            <p:cNvSpPr/>
            <p:nvPr/>
          </p:nvSpPr>
          <p:spPr>
            <a:xfrm>
              <a:off x="0" y="0"/>
              <a:ext cx="1430911" cy="194470"/>
            </a:xfrm>
            <a:custGeom>
              <a:avLst/>
              <a:gdLst/>
              <a:ahLst/>
              <a:cxnLst/>
              <a:rect l="l" t="t" r="r" b="b"/>
              <a:pathLst>
                <a:path w="1430911" h="194470" extrusionOk="0">
                  <a:moveTo>
                    <a:pt x="29925" y="0"/>
                  </a:moveTo>
                  <a:lnTo>
                    <a:pt x="1400986" y="0"/>
                  </a:lnTo>
                  <a:cubicBezTo>
                    <a:pt x="1408923" y="0"/>
                    <a:pt x="1416534" y="3153"/>
                    <a:pt x="1422146" y="8765"/>
                  </a:cubicBezTo>
                  <a:cubicBezTo>
                    <a:pt x="1427758" y="14377"/>
                    <a:pt x="1430911" y="21988"/>
                    <a:pt x="1430911" y="29925"/>
                  </a:cubicBezTo>
                  <a:lnTo>
                    <a:pt x="1430911" y="164545"/>
                  </a:lnTo>
                  <a:cubicBezTo>
                    <a:pt x="1430911" y="172482"/>
                    <a:pt x="1427758" y="180093"/>
                    <a:pt x="1422146" y="185705"/>
                  </a:cubicBezTo>
                  <a:cubicBezTo>
                    <a:pt x="1416534" y="191317"/>
                    <a:pt x="1408923" y="194470"/>
                    <a:pt x="1400986" y="194470"/>
                  </a:cubicBezTo>
                  <a:lnTo>
                    <a:pt x="29925" y="194470"/>
                  </a:lnTo>
                  <a:cubicBezTo>
                    <a:pt x="21988" y="194470"/>
                    <a:pt x="14377" y="191317"/>
                    <a:pt x="8765" y="185705"/>
                  </a:cubicBezTo>
                  <a:cubicBezTo>
                    <a:pt x="3153" y="180093"/>
                    <a:pt x="0" y="172482"/>
                    <a:pt x="0" y="164545"/>
                  </a:cubicBezTo>
                  <a:lnTo>
                    <a:pt x="0" y="29925"/>
                  </a:lnTo>
                  <a:cubicBezTo>
                    <a:pt x="0" y="21988"/>
                    <a:pt x="3153" y="14377"/>
                    <a:pt x="8765" y="8765"/>
                  </a:cubicBezTo>
                  <a:cubicBezTo>
                    <a:pt x="14377" y="3153"/>
                    <a:pt x="21988" y="0"/>
                    <a:pt x="2992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7"/>
            <p:cNvSpPr txBox="1"/>
            <p:nvPr/>
          </p:nvSpPr>
          <p:spPr>
            <a:xfrm>
              <a:off x="2" y="3"/>
              <a:ext cx="1431000" cy="19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Primul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pas</a:t>
              </a:r>
              <a:endParaRPr lang="en-US" dirty="0"/>
            </a:p>
          </p:txBody>
        </p:sp>
      </p:grpSp>
      <p:grpSp>
        <p:nvGrpSpPr>
          <p:cNvPr id="147" name="Google Shape;147;p17"/>
          <p:cNvGrpSpPr/>
          <p:nvPr/>
        </p:nvGrpSpPr>
        <p:grpSpPr>
          <a:xfrm>
            <a:off x="10742158" y="3122067"/>
            <a:ext cx="5433329" cy="1483549"/>
            <a:chOff x="-1" y="0"/>
            <a:chExt cx="1431000" cy="194470"/>
          </a:xfrm>
        </p:grpSpPr>
        <p:sp>
          <p:nvSpPr>
            <p:cNvPr id="148" name="Google Shape;148;p17"/>
            <p:cNvSpPr/>
            <p:nvPr/>
          </p:nvSpPr>
          <p:spPr>
            <a:xfrm>
              <a:off x="0" y="0"/>
              <a:ext cx="1430911" cy="194470"/>
            </a:xfrm>
            <a:custGeom>
              <a:avLst/>
              <a:gdLst/>
              <a:ahLst/>
              <a:cxnLst/>
              <a:rect l="l" t="t" r="r" b="b"/>
              <a:pathLst>
                <a:path w="1430911" h="194470" extrusionOk="0">
                  <a:moveTo>
                    <a:pt x="29925" y="0"/>
                  </a:moveTo>
                  <a:lnTo>
                    <a:pt x="1400986" y="0"/>
                  </a:lnTo>
                  <a:cubicBezTo>
                    <a:pt x="1408923" y="0"/>
                    <a:pt x="1416534" y="3153"/>
                    <a:pt x="1422146" y="8765"/>
                  </a:cubicBezTo>
                  <a:cubicBezTo>
                    <a:pt x="1427758" y="14377"/>
                    <a:pt x="1430911" y="21988"/>
                    <a:pt x="1430911" y="29925"/>
                  </a:cubicBezTo>
                  <a:lnTo>
                    <a:pt x="1430911" y="164545"/>
                  </a:lnTo>
                  <a:cubicBezTo>
                    <a:pt x="1430911" y="172482"/>
                    <a:pt x="1427758" y="180093"/>
                    <a:pt x="1422146" y="185705"/>
                  </a:cubicBezTo>
                  <a:cubicBezTo>
                    <a:pt x="1416534" y="191317"/>
                    <a:pt x="1408923" y="194470"/>
                    <a:pt x="1400986" y="194470"/>
                  </a:cubicBezTo>
                  <a:lnTo>
                    <a:pt x="29925" y="194470"/>
                  </a:lnTo>
                  <a:cubicBezTo>
                    <a:pt x="21988" y="194470"/>
                    <a:pt x="14377" y="191317"/>
                    <a:pt x="8765" y="185705"/>
                  </a:cubicBezTo>
                  <a:cubicBezTo>
                    <a:pt x="3153" y="180093"/>
                    <a:pt x="0" y="172482"/>
                    <a:pt x="0" y="164545"/>
                  </a:cubicBezTo>
                  <a:lnTo>
                    <a:pt x="0" y="29925"/>
                  </a:lnTo>
                  <a:cubicBezTo>
                    <a:pt x="0" y="21988"/>
                    <a:pt x="3153" y="14377"/>
                    <a:pt x="8765" y="8765"/>
                  </a:cubicBezTo>
                  <a:cubicBezTo>
                    <a:pt x="14377" y="3153"/>
                    <a:pt x="21988" y="0"/>
                    <a:pt x="2992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7"/>
            <p:cNvSpPr txBox="1"/>
            <p:nvPr/>
          </p:nvSpPr>
          <p:spPr>
            <a:xfrm>
              <a:off x="-1" y="8404"/>
              <a:ext cx="1431000" cy="1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Crearea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Firelor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de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Execuție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(Threads)</a:t>
              </a:r>
              <a:endParaRPr lang="en-US" dirty="0"/>
            </a:p>
          </p:txBody>
        </p:sp>
      </p:grpSp>
      <p:cxnSp>
        <p:nvCxnSpPr>
          <p:cNvPr id="150" name="Google Shape;150;p17"/>
          <p:cNvCxnSpPr/>
          <p:nvPr/>
        </p:nvCxnSpPr>
        <p:spPr>
          <a:xfrm>
            <a:off x="3980494" y="591150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2" name="Google Shape;152;p17"/>
          <p:cNvCxnSpPr/>
          <p:nvPr/>
        </p:nvCxnSpPr>
        <p:spPr>
          <a:xfrm>
            <a:off x="12680981" y="552883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3" name="Google Shape;153;p17"/>
          <p:cNvCxnSpPr/>
          <p:nvPr/>
        </p:nvCxnSpPr>
        <p:spPr>
          <a:xfrm>
            <a:off x="12739304" y="6831353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17"/>
          <p:cNvCxnSpPr/>
          <p:nvPr/>
        </p:nvCxnSpPr>
        <p:spPr>
          <a:xfrm rot="10800000">
            <a:off x="9144000" y="3451739"/>
            <a:ext cx="0" cy="523579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17"/>
          <p:cNvSpPr txBox="1"/>
          <p:nvPr/>
        </p:nvSpPr>
        <p:spPr>
          <a:xfrm>
            <a:off x="2326879" y="6220946"/>
            <a:ext cx="4949759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Asteapta ca clientul sa trimita baremul si poza </a:t>
            </a:r>
            <a:endParaRPr lang="en-US" dirty="0"/>
          </a:p>
        </p:txBody>
      </p:sp>
      <p:grpSp>
        <p:nvGrpSpPr>
          <p:cNvPr id="156" name="Google Shape;156;p17"/>
          <p:cNvGrpSpPr/>
          <p:nvPr/>
        </p:nvGrpSpPr>
        <p:grpSpPr>
          <a:xfrm>
            <a:off x="1028700" y="902849"/>
            <a:ext cx="16230600" cy="1682986"/>
            <a:chOff x="0" y="0"/>
            <a:chExt cx="21640800" cy="2243980"/>
          </a:xfrm>
        </p:grpSpPr>
        <p:sp>
          <p:nvSpPr>
            <p:cNvPr id="157" name="Google Shape;157;p17"/>
            <p:cNvSpPr txBox="1"/>
            <p:nvPr/>
          </p:nvSpPr>
          <p:spPr>
            <a:xfrm>
              <a:off x="0" y="0"/>
              <a:ext cx="21640800" cy="1575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00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Serverul</a:t>
              </a:r>
              <a:endParaRPr dirty="0"/>
            </a:p>
          </p:txBody>
        </p:sp>
        <p:sp>
          <p:nvSpPr>
            <p:cNvPr id="158" name="Google Shape;158;p17"/>
            <p:cNvSpPr txBox="1"/>
            <p:nvPr/>
          </p:nvSpPr>
          <p:spPr>
            <a:xfrm>
              <a:off x="0" y="1550458"/>
              <a:ext cx="21640800" cy="693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00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Inițializarea</a:t>
              </a:r>
              <a:endParaRPr lang="en-US" sz="1200" dirty="0"/>
            </a:p>
          </p:txBody>
        </p:sp>
      </p:grpSp>
      <p:sp>
        <p:nvSpPr>
          <p:cNvPr id="159" name="Google Shape;159;p17"/>
          <p:cNvSpPr txBox="1"/>
          <p:nvPr/>
        </p:nvSpPr>
        <p:spPr>
          <a:xfrm>
            <a:off x="2326879" y="4530478"/>
            <a:ext cx="4743643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Pregatire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coada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FIFO, mutex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si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variabila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conditie</a:t>
            </a:r>
            <a:endParaRPr lang="en-US" dirty="0"/>
          </a:p>
        </p:txBody>
      </p:sp>
      <p:sp>
        <p:nvSpPr>
          <p:cNvPr id="161" name="Google Shape;161;p17"/>
          <p:cNvSpPr txBox="1"/>
          <p:nvPr/>
        </p:nvSpPr>
        <p:spPr>
          <a:xfrm>
            <a:off x="10359034" y="4799687"/>
            <a:ext cx="6199578" cy="538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t_i: Firul INET (Rețea)</a:t>
            </a:r>
            <a:endParaRPr lang="en-US" dirty="0"/>
          </a:p>
        </p:txBody>
      </p:sp>
      <p:sp>
        <p:nvSpPr>
          <p:cNvPr id="162" name="Google Shape;162;p17"/>
          <p:cNvSpPr txBox="1"/>
          <p:nvPr/>
        </p:nvSpPr>
        <p:spPr>
          <a:xfrm>
            <a:off x="10954007" y="5528834"/>
            <a:ext cx="5126277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t_w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Firul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Worker (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Procesare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Optică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  <a:endParaRPr lang="en-US" dirty="0"/>
          </a:p>
        </p:txBody>
      </p:sp>
      <p:sp>
        <p:nvSpPr>
          <p:cNvPr id="163" name="Google Shape;163;p17"/>
          <p:cNvSpPr txBox="1"/>
          <p:nvPr/>
        </p:nvSpPr>
        <p:spPr>
          <a:xfrm>
            <a:off x="10895685" y="6849927"/>
            <a:ext cx="5242922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t_a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Firul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Admin (Management Local)</a:t>
            </a:r>
            <a:endParaRPr lang="en-US" dirty="0"/>
          </a:p>
        </p:txBody>
      </p:sp>
      <p:sp>
        <p:nvSpPr>
          <p:cNvPr id="164" name="Google Shape;164;p17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grpSp>
        <p:nvGrpSpPr>
          <p:cNvPr id="165" name="Google Shape;165;p17"/>
          <p:cNvGrpSpPr/>
          <p:nvPr/>
        </p:nvGrpSpPr>
        <p:grpSpPr>
          <a:xfrm>
            <a:off x="0" y="-325486"/>
            <a:ext cx="18288000" cy="706486"/>
            <a:chOff x="0" y="-85725"/>
            <a:chExt cx="4816593" cy="186071"/>
          </a:xfrm>
        </p:grpSpPr>
        <p:sp>
          <p:nvSpPr>
            <p:cNvPr id="166" name="Google Shape;166;p17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/>
            <a:lstStyle/>
            <a:p>
              <a:endParaRPr lang="ro-RO"/>
            </a:p>
          </p:txBody>
        </p:sp>
        <p:sp>
          <p:nvSpPr>
            <p:cNvPr id="167" name="Google Shape;167;p17"/>
            <p:cNvSpPr txBox="1"/>
            <p:nvPr/>
          </p:nvSpPr>
          <p:spPr>
            <a:xfrm>
              <a:off x="0" y="-85725"/>
              <a:ext cx="4816593" cy="1860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" name="Google Shape;153;p17">
            <a:extLst>
              <a:ext uri="{FF2B5EF4-FFF2-40B4-BE49-F238E27FC236}">
                <a16:creationId xmlns:a16="http://schemas.microsoft.com/office/drawing/2014/main" id="{76BA5449-A5C4-2B55-B075-8C5198B106EA}"/>
              </a:ext>
            </a:extLst>
          </p:cNvPr>
          <p:cNvCxnSpPr/>
          <p:nvPr/>
        </p:nvCxnSpPr>
        <p:spPr>
          <a:xfrm>
            <a:off x="12739304" y="808371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asetăText 3">
            <a:extLst>
              <a:ext uri="{FF2B5EF4-FFF2-40B4-BE49-F238E27FC236}">
                <a16:creationId xmlns:a16="http://schemas.microsoft.com/office/drawing/2014/main" id="{4B04F57D-F28C-2BFE-48E8-6BDE00C51D8E}"/>
              </a:ext>
            </a:extLst>
          </p:cNvPr>
          <p:cNvSpPr txBox="1"/>
          <p:nvPr/>
        </p:nvSpPr>
        <p:spPr>
          <a:xfrm>
            <a:off x="10895685" y="8323766"/>
            <a:ext cx="562044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2500" dirty="0" err="1">
                <a:solidFill>
                  <a:schemeClr val="bg1"/>
                </a:solidFill>
              </a:rPr>
              <a:t>t_n</a:t>
            </a:r>
            <a:r>
              <a:rPr lang="ro-RO" sz="2500" dirty="0">
                <a:solidFill>
                  <a:schemeClr val="bg1"/>
                </a:solidFill>
              </a:rPr>
              <a:t>: Firul </a:t>
            </a:r>
            <a:r>
              <a:rPr lang="ro-RO" sz="2500" dirty="0" err="1">
                <a:solidFill>
                  <a:schemeClr val="bg1"/>
                </a:solidFill>
              </a:rPr>
              <a:t>INotify</a:t>
            </a:r>
            <a:r>
              <a:rPr lang="ro-RO" sz="2500" dirty="0">
                <a:solidFill>
                  <a:schemeClr val="bg1"/>
                </a:solidFill>
              </a:rPr>
              <a:t> (Monitorizare </a:t>
            </a:r>
            <a:r>
              <a:rPr lang="ro-RO" sz="2500" dirty="0" err="1">
                <a:solidFill>
                  <a:schemeClr val="bg1"/>
                </a:solidFill>
              </a:rPr>
              <a:t>Kernel</a:t>
            </a:r>
            <a:r>
              <a:rPr lang="ro-RO" sz="2500" dirty="0">
                <a:solidFill>
                  <a:schemeClr val="bg1"/>
                </a:solidFill>
              </a:rPr>
              <a:t>)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oogle Shape;172;p18"/>
          <p:cNvGrpSpPr/>
          <p:nvPr/>
        </p:nvGrpSpPr>
        <p:grpSpPr>
          <a:xfrm>
            <a:off x="7553325" y="238879"/>
            <a:ext cx="10353675" cy="2095471"/>
            <a:chOff x="0" y="-38100"/>
            <a:chExt cx="2726894" cy="551894"/>
          </a:xfrm>
        </p:grpSpPr>
        <p:sp>
          <p:nvSpPr>
            <p:cNvPr id="173" name="Google Shape;173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5" name="Google Shape;175;p18"/>
          <p:cNvGrpSpPr/>
          <p:nvPr/>
        </p:nvGrpSpPr>
        <p:grpSpPr>
          <a:xfrm>
            <a:off x="7553325" y="2762762"/>
            <a:ext cx="10353675" cy="2095471"/>
            <a:chOff x="0" y="-38100"/>
            <a:chExt cx="2726894" cy="551894"/>
          </a:xfrm>
        </p:grpSpPr>
        <p:sp>
          <p:nvSpPr>
            <p:cNvPr id="176" name="Google Shape;176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8"/>
          <p:cNvGrpSpPr/>
          <p:nvPr/>
        </p:nvGrpSpPr>
        <p:grpSpPr>
          <a:xfrm>
            <a:off x="7553325" y="5286646"/>
            <a:ext cx="10353675" cy="2095471"/>
            <a:chOff x="0" y="-38100"/>
            <a:chExt cx="2726894" cy="551894"/>
          </a:xfrm>
        </p:grpSpPr>
        <p:sp>
          <p:nvSpPr>
            <p:cNvPr id="179" name="Google Shape;179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81" name="Google Shape;181;p18"/>
          <p:cNvCxnSpPr/>
          <p:nvPr/>
        </p:nvCxnSpPr>
        <p:spPr>
          <a:xfrm>
            <a:off x="8848690" y="4858234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grpSp>
        <p:nvGrpSpPr>
          <p:cNvPr id="182" name="Google Shape;182;p18"/>
          <p:cNvGrpSpPr/>
          <p:nvPr/>
        </p:nvGrpSpPr>
        <p:grpSpPr>
          <a:xfrm>
            <a:off x="7553325" y="7810529"/>
            <a:ext cx="10353675" cy="2095471"/>
            <a:chOff x="0" y="-38100"/>
            <a:chExt cx="2726894" cy="551894"/>
          </a:xfrm>
        </p:grpSpPr>
        <p:sp>
          <p:nvSpPr>
            <p:cNvPr id="183" name="Google Shape;183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85" name="Google Shape;185;p18"/>
          <p:cNvCxnSpPr/>
          <p:nvPr/>
        </p:nvCxnSpPr>
        <p:spPr>
          <a:xfrm>
            <a:off x="8834403" y="2334339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186" name="Google Shape;186;p18"/>
          <p:cNvCxnSpPr/>
          <p:nvPr/>
        </p:nvCxnSpPr>
        <p:spPr>
          <a:xfrm>
            <a:off x="8834403" y="7382117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187" name="Google Shape;187;p18"/>
          <p:cNvSpPr/>
          <p:nvPr/>
        </p:nvSpPr>
        <p:spPr>
          <a:xfrm>
            <a:off x="274320" y="3008808"/>
            <a:ext cx="5152458" cy="6795808"/>
          </a:xfrm>
          <a:custGeom>
            <a:avLst/>
            <a:gdLst/>
            <a:ahLst/>
            <a:cxnLst/>
            <a:rect l="l" t="t" r="r" b="b"/>
            <a:pathLst>
              <a:path w="5152458" h="6795808" extrusionOk="0">
                <a:moveTo>
                  <a:pt x="0" y="0"/>
                </a:moveTo>
                <a:lnTo>
                  <a:pt x="5152458" y="0"/>
                </a:lnTo>
                <a:lnTo>
                  <a:pt x="5152458" y="6795808"/>
                </a:lnTo>
                <a:lnTo>
                  <a:pt x="0" y="67958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  <p:grpSp>
        <p:nvGrpSpPr>
          <p:cNvPr id="188" name="Google Shape;188;p18"/>
          <p:cNvGrpSpPr/>
          <p:nvPr/>
        </p:nvGrpSpPr>
        <p:grpSpPr>
          <a:xfrm>
            <a:off x="381000" y="676660"/>
            <a:ext cx="5448375" cy="2410848"/>
            <a:chOff x="0" y="390826"/>
            <a:chExt cx="7264500" cy="3214465"/>
          </a:xfrm>
        </p:grpSpPr>
        <p:sp>
          <p:nvSpPr>
            <p:cNvPr id="189" name="Google Shape;189;p18"/>
            <p:cNvSpPr txBox="1"/>
            <p:nvPr/>
          </p:nvSpPr>
          <p:spPr>
            <a:xfrm>
              <a:off x="0" y="390826"/>
              <a:ext cx="7264500" cy="21007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Rolul firelor de Execuție</a:t>
              </a:r>
              <a:endPara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endParaRPr>
            </a:p>
          </p:txBody>
        </p:sp>
        <p:sp>
          <p:nvSpPr>
            <p:cNvPr id="190" name="Google Shape;190;p18"/>
            <p:cNvSpPr txBox="1"/>
            <p:nvPr/>
          </p:nvSpPr>
          <p:spPr>
            <a:xfrm>
              <a:off x="0" y="3274944"/>
              <a:ext cx="7264500" cy="3303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91" name="Google Shape;191;p18"/>
          <p:cNvSpPr txBox="1"/>
          <p:nvPr/>
        </p:nvSpPr>
        <p:spPr>
          <a:xfrm>
            <a:off x="10115591" y="689360"/>
            <a:ext cx="7172400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Folosește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poll()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asculta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asincron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până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64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clienți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Primește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fișierele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pune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2" name="Google Shape;192;p18"/>
          <p:cNvSpPr txBox="1"/>
          <p:nvPr/>
        </p:nvSpPr>
        <p:spPr>
          <a:xfrm>
            <a:off x="10220085" y="3128975"/>
            <a:ext cx="7172400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"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Muncitorul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".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adormit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până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test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Execută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biblioteca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OpenCV,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calculează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nota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răspunsul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înapoi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client.</a:t>
            </a:r>
            <a:endParaRPr lang="en-US" sz="2400" dirty="0"/>
          </a:p>
        </p:txBody>
      </p:sp>
      <p:sp>
        <p:nvSpPr>
          <p:cNvPr id="193" name="Google Shape;193;p18"/>
          <p:cNvSpPr txBox="1"/>
          <p:nvPr/>
        </p:nvSpPr>
        <p:spPr>
          <a:xfrm>
            <a:off x="7763853" y="783559"/>
            <a:ext cx="2141100" cy="115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INET Thread (Port 9090)</a:t>
            </a:r>
            <a:endParaRPr lang="en-US" sz="2400" dirty="0"/>
          </a:p>
        </p:txBody>
      </p:sp>
      <p:sp>
        <p:nvSpPr>
          <p:cNvPr id="194" name="Google Shape;194;p18"/>
          <p:cNvSpPr txBox="1"/>
          <p:nvPr/>
        </p:nvSpPr>
        <p:spPr>
          <a:xfrm>
            <a:off x="7778140" y="3034815"/>
            <a:ext cx="2141100" cy="173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Worker Thread (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Procesare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  <a:endParaRPr lang="en-US" sz="2400" dirty="0"/>
          </a:p>
        </p:txBody>
      </p:sp>
      <p:sp>
        <p:nvSpPr>
          <p:cNvPr id="195" name="Google Shape;195;p18"/>
          <p:cNvSpPr txBox="1"/>
          <p:nvPr/>
        </p:nvSpPr>
        <p:spPr>
          <a:xfrm>
            <a:off x="10319814" y="5642758"/>
            <a:ext cx="7172325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Ascultă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pe /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tmp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/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omr_admin.sock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comenzile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administrator (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nc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-U)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generare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rapoarte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oprire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urgență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6" name="Google Shape;196;p18"/>
          <p:cNvSpPr txBox="1"/>
          <p:nvPr/>
        </p:nvSpPr>
        <p:spPr>
          <a:xfrm>
            <a:off x="7763853" y="5754543"/>
            <a:ext cx="2141100" cy="115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 Thread (Socket UNIX)</a:t>
            </a:r>
            <a:endParaRPr lang="en-US" sz="2400" dirty="0"/>
          </a:p>
        </p:txBody>
      </p:sp>
      <p:sp>
        <p:nvSpPr>
          <p:cNvPr id="197" name="Google Shape;197;p18"/>
          <p:cNvSpPr txBox="1"/>
          <p:nvPr/>
        </p:nvSpPr>
        <p:spPr>
          <a:xfrm>
            <a:off x="10319814" y="8141709"/>
            <a:ext cx="7172325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Interacționează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direct cu Kernel-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Linux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loga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consolă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crearea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modificarea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fișierelor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temporare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către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clienți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8" name="Google Shape;198;p18"/>
          <p:cNvSpPr txBox="1"/>
          <p:nvPr/>
        </p:nvSpPr>
        <p:spPr>
          <a:xfrm>
            <a:off x="7763853" y="7988474"/>
            <a:ext cx="2141100" cy="1739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INotify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Thread</a:t>
            </a:r>
            <a:endParaRPr lang="en-US" sz="36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4" name="Google Shape;214;p20"/>
          <p:cNvGrpSpPr/>
          <p:nvPr/>
        </p:nvGrpSpPr>
        <p:grpSpPr>
          <a:xfrm>
            <a:off x="371475" y="2691309"/>
            <a:ext cx="5448300" cy="6033591"/>
            <a:chOff x="0" y="-57150"/>
            <a:chExt cx="1434943" cy="1589094"/>
          </a:xfrm>
        </p:grpSpPr>
        <p:sp>
          <p:nvSpPr>
            <p:cNvPr id="215" name="Google Shape;215;p20"/>
            <p:cNvSpPr/>
            <p:nvPr/>
          </p:nvSpPr>
          <p:spPr>
            <a:xfrm>
              <a:off x="0" y="0"/>
              <a:ext cx="1434943" cy="1531944"/>
            </a:xfrm>
            <a:custGeom>
              <a:avLst/>
              <a:gdLst/>
              <a:ahLst/>
              <a:cxnLst/>
              <a:rect l="l" t="t" r="r" b="b"/>
              <a:pathLst>
                <a:path w="1434943" h="1531944" extrusionOk="0">
                  <a:moveTo>
                    <a:pt x="28420" y="0"/>
                  </a:moveTo>
                  <a:lnTo>
                    <a:pt x="1406524" y="0"/>
                  </a:lnTo>
                  <a:cubicBezTo>
                    <a:pt x="1422219" y="0"/>
                    <a:pt x="1434943" y="12724"/>
                    <a:pt x="1434943" y="28420"/>
                  </a:cubicBezTo>
                  <a:lnTo>
                    <a:pt x="1434943" y="1503525"/>
                  </a:lnTo>
                  <a:cubicBezTo>
                    <a:pt x="1434943" y="1519220"/>
                    <a:pt x="1422219" y="1531944"/>
                    <a:pt x="1406524" y="1531944"/>
                  </a:cubicBezTo>
                  <a:lnTo>
                    <a:pt x="28420" y="1531944"/>
                  </a:lnTo>
                  <a:cubicBezTo>
                    <a:pt x="12724" y="1531944"/>
                    <a:pt x="0" y="1519220"/>
                    <a:pt x="0" y="1503525"/>
                  </a:cubicBezTo>
                  <a:lnTo>
                    <a:pt x="0" y="28420"/>
                  </a:lnTo>
                  <a:cubicBezTo>
                    <a:pt x="0" y="12724"/>
                    <a:pt x="12724" y="0"/>
                    <a:pt x="28420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0"/>
            <p:cNvSpPr txBox="1"/>
            <p:nvPr/>
          </p:nvSpPr>
          <p:spPr>
            <a:xfrm>
              <a:off x="0" y="-57150"/>
              <a:ext cx="1434943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20"/>
          <p:cNvGrpSpPr/>
          <p:nvPr/>
        </p:nvGrpSpPr>
        <p:grpSpPr>
          <a:xfrm>
            <a:off x="6424612" y="2691309"/>
            <a:ext cx="5438775" cy="6033591"/>
            <a:chOff x="0" y="-57150"/>
            <a:chExt cx="1432435" cy="1589094"/>
          </a:xfrm>
        </p:grpSpPr>
        <p:sp>
          <p:nvSpPr>
            <p:cNvPr id="218" name="Google Shape;218;p20"/>
            <p:cNvSpPr/>
            <p:nvPr/>
          </p:nvSpPr>
          <p:spPr>
            <a:xfrm>
              <a:off x="0" y="0"/>
              <a:ext cx="1432435" cy="1531944"/>
            </a:xfrm>
            <a:custGeom>
              <a:avLst/>
              <a:gdLst/>
              <a:ahLst/>
              <a:cxnLst/>
              <a:rect l="l" t="t" r="r" b="b"/>
              <a:pathLst>
                <a:path w="1432435" h="1531944" extrusionOk="0">
                  <a:moveTo>
                    <a:pt x="28469" y="0"/>
                  </a:moveTo>
                  <a:lnTo>
                    <a:pt x="1403965" y="0"/>
                  </a:lnTo>
                  <a:cubicBezTo>
                    <a:pt x="1411516" y="0"/>
                    <a:pt x="1418757" y="2999"/>
                    <a:pt x="1424096" y="8338"/>
                  </a:cubicBezTo>
                  <a:cubicBezTo>
                    <a:pt x="1429435" y="13678"/>
                    <a:pt x="1432435" y="20919"/>
                    <a:pt x="1432435" y="28469"/>
                  </a:cubicBezTo>
                  <a:lnTo>
                    <a:pt x="1432435" y="1503475"/>
                  </a:lnTo>
                  <a:cubicBezTo>
                    <a:pt x="1432435" y="1511025"/>
                    <a:pt x="1429435" y="1518267"/>
                    <a:pt x="1424096" y="1523606"/>
                  </a:cubicBezTo>
                  <a:cubicBezTo>
                    <a:pt x="1418757" y="1528945"/>
                    <a:pt x="1411516" y="1531944"/>
                    <a:pt x="1403965" y="1531944"/>
                  </a:cubicBezTo>
                  <a:lnTo>
                    <a:pt x="28469" y="1531944"/>
                  </a:lnTo>
                  <a:cubicBezTo>
                    <a:pt x="12746" y="1531944"/>
                    <a:pt x="0" y="1519198"/>
                    <a:pt x="0" y="1503475"/>
                  </a:cubicBezTo>
                  <a:lnTo>
                    <a:pt x="0" y="28469"/>
                  </a:lnTo>
                  <a:cubicBezTo>
                    <a:pt x="0" y="20919"/>
                    <a:pt x="2999" y="13678"/>
                    <a:pt x="8338" y="8338"/>
                  </a:cubicBezTo>
                  <a:cubicBezTo>
                    <a:pt x="13678" y="2999"/>
                    <a:pt x="20919" y="0"/>
                    <a:pt x="28469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0"/>
            <p:cNvSpPr txBox="1"/>
            <p:nvPr/>
          </p:nvSpPr>
          <p:spPr>
            <a:xfrm>
              <a:off x="0" y="-57150"/>
              <a:ext cx="1432435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20"/>
          <p:cNvGrpSpPr/>
          <p:nvPr/>
        </p:nvGrpSpPr>
        <p:grpSpPr>
          <a:xfrm>
            <a:off x="12458700" y="2691309"/>
            <a:ext cx="5448300" cy="6033591"/>
            <a:chOff x="0" y="-57150"/>
            <a:chExt cx="1434943" cy="1589094"/>
          </a:xfrm>
        </p:grpSpPr>
        <p:sp>
          <p:nvSpPr>
            <p:cNvPr id="221" name="Google Shape;221;p20"/>
            <p:cNvSpPr/>
            <p:nvPr/>
          </p:nvSpPr>
          <p:spPr>
            <a:xfrm>
              <a:off x="0" y="0"/>
              <a:ext cx="1434943" cy="1531944"/>
            </a:xfrm>
            <a:custGeom>
              <a:avLst/>
              <a:gdLst/>
              <a:ahLst/>
              <a:cxnLst/>
              <a:rect l="l" t="t" r="r" b="b"/>
              <a:pathLst>
                <a:path w="1434943" h="1531944" extrusionOk="0">
                  <a:moveTo>
                    <a:pt x="28420" y="0"/>
                  </a:moveTo>
                  <a:lnTo>
                    <a:pt x="1406524" y="0"/>
                  </a:lnTo>
                  <a:cubicBezTo>
                    <a:pt x="1422219" y="0"/>
                    <a:pt x="1434943" y="12724"/>
                    <a:pt x="1434943" y="28420"/>
                  </a:cubicBezTo>
                  <a:lnTo>
                    <a:pt x="1434943" y="1503525"/>
                  </a:lnTo>
                  <a:cubicBezTo>
                    <a:pt x="1434943" y="1519220"/>
                    <a:pt x="1422219" y="1531944"/>
                    <a:pt x="1406524" y="1531944"/>
                  </a:cubicBezTo>
                  <a:lnTo>
                    <a:pt x="28420" y="1531944"/>
                  </a:lnTo>
                  <a:cubicBezTo>
                    <a:pt x="12724" y="1531944"/>
                    <a:pt x="0" y="1519220"/>
                    <a:pt x="0" y="1503525"/>
                  </a:cubicBezTo>
                  <a:lnTo>
                    <a:pt x="0" y="28420"/>
                  </a:lnTo>
                  <a:cubicBezTo>
                    <a:pt x="0" y="12724"/>
                    <a:pt x="12724" y="0"/>
                    <a:pt x="28420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0"/>
            <p:cNvSpPr txBox="1"/>
            <p:nvPr/>
          </p:nvSpPr>
          <p:spPr>
            <a:xfrm>
              <a:off x="0" y="-57150"/>
              <a:ext cx="1434943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4" name="Google Shape;274;p20"/>
          <p:cNvSpPr txBox="1"/>
          <p:nvPr/>
        </p:nvSpPr>
        <p:spPr>
          <a:xfrm>
            <a:off x="689218" y="3639845"/>
            <a:ext cx="4854600" cy="4136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Deschide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protocolul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(Header-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"OMR" +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dimensiunea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fișierului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b="0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folosește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funcția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sendfile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()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pompa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imaginea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275" name="Google Shape;275;p20"/>
          <p:cNvSpPr txBox="1"/>
          <p:nvPr/>
        </p:nvSpPr>
        <p:spPr>
          <a:xfrm>
            <a:off x="6728747" y="3636434"/>
            <a:ext cx="4823400" cy="3619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Prinde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poll()</a:t>
            </a:r>
          </a:p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800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800" dirty="0" err="1">
                <a:solidFill>
                  <a:schemeClr val="bg1"/>
                </a:solidFill>
              </a:rPr>
              <a:t>Salvează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imaginea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temporar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în</a:t>
            </a:r>
            <a:r>
              <a:rPr lang="en-US" sz="2800" dirty="0">
                <a:solidFill>
                  <a:schemeClr val="bg1"/>
                </a:solidFill>
              </a:rPr>
              <a:t> /</a:t>
            </a:r>
            <a:r>
              <a:rPr lang="en-US" sz="2800" dirty="0" err="1">
                <a:solidFill>
                  <a:schemeClr val="bg1"/>
                </a:solidFill>
              </a:rPr>
              <a:t>tmp</a:t>
            </a:r>
            <a:r>
              <a:rPr lang="en-US" sz="2800" dirty="0">
                <a:solidFill>
                  <a:schemeClr val="bg1"/>
                </a:solidFill>
              </a:rPr>
              <a:t>/</a:t>
            </a:r>
            <a:r>
              <a:rPr lang="en-US" sz="2800" dirty="0" err="1">
                <a:solidFill>
                  <a:schemeClr val="bg1"/>
                </a:solidFill>
              </a:rPr>
              <a:t>omr_recv</a:t>
            </a:r>
            <a:r>
              <a:rPr lang="en-US" sz="2800" dirty="0">
                <a:solidFill>
                  <a:schemeClr val="bg1"/>
                </a:solidFill>
              </a:rPr>
              <a:t>_...</a:t>
            </a:r>
            <a:r>
              <a:rPr lang="en-US" sz="2800" dirty="0" err="1">
                <a:solidFill>
                  <a:schemeClr val="bg1"/>
                </a:solidFill>
              </a:rPr>
              <a:t>png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12766950" y="3276084"/>
            <a:ext cx="4831800" cy="5170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INET Thread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blochează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 Mutex-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ul</a:t>
            </a:r>
            <a:endParaRPr lang="en-US" sz="2400" b="0" i="0" u="none" strike="noStrike" cap="none" dirty="0">
              <a:solidFill>
                <a:srgbClr val="F9F6FF"/>
              </a:solidFill>
              <a:latin typeface="Inclusive Sans" panose="020B0604020202020204" charset="0"/>
              <a:ea typeface="Inclusive Sans"/>
              <a:cs typeface="Inclusive Sans" panose="020B0604020202020204" charset="0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dirty="0">
              <a:solidFill>
                <a:srgbClr val="F9F6FF"/>
              </a:solidFill>
              <a:latin typeface="Inclusive Sans" panose="020B0604020202020204" charset="0"/>
              <a:cs typeface="Inclusive Sans" panose="020B0604020202020204" charset="0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Introduce job-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(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calea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pozei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+ socket-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clientului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)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în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coada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FIFO</a:t>
            </a: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1"/>
              </a:solidFill>
              <a:latin typeface="Inclusive Sans" panose="020B0604020202020204" charset="0"/>
              <a:cs typeface="Inclusive Sans" panose="020B0604020202020204" charset="0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Trimite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un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semnal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(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pthread_cond_signal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)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pentru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a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trezi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Worker-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endParaRPr lang="en-US" sz="2400" dirty="0">
              <a:solidFill>
                <a:schemeClr val="bg1"/>
              </a:solidFill>
              <a:latin typeface="Inclusive Sans" panose="020B0604020202020204" charset="0"/>
              <a:cs typeface="Inclusive Sans" panose="020B0604020202020204" charset="0"/>
            </a:endParaRPr>
          </a:p>
        </p:txBody>
      </p:sp>
      <p:sp>
        <p:nvSpPr>
          <p:cNvPr id="286" name="Google Shape;286;p20"/>
          <p:cNvSpPr txBox="1"/>
          <p:nvPr/>
        </p:nvSpPr>
        <p:spPr>
          <a:xfrm>
            <a:off x="371475" y="574675"/>
            <a:ext cx="13401995" cy="118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Workflow-</a:t>
            </a:r>
            <a:r>
              <a:rPr lang="en-US" sz="6399" b="0" i="0" u="none" strike="noStrike" cap="none" dirty="0" err="1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ul</a:t>
            </a: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Aplicației</a:t>
            </a: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Pasul 1</a:t>
            </a:r>
          </a:p>
        </p:txBody>
      </p:sp>
      <p:sp>
        <p:nvSpPr>
          <p:cNvPr id="287" name="Google Shape;287;p20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pic>
        <p:nvPicPr>
          <p:cNvPr id="288" name="Google Shape;288;p20"/>
          <p:cNvPicPr preferRelativeResize="0"/>
          <p:nvPr/>
        </p:nvPicPr>
        <p:blipFill rotWithShape="1">
          <a:blip r:embed="rId4">
            <a:alphaModFix/>
          </a:blip>
          <a:srcRect t="51837" r="418"/>
          <a:stretch/>
        </p:blipFill>
        <p:spPr>
          <a:xfrm>
            <a:off x="11268775" y="0"/>
            <a:ext cx="7019224" cy="2119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asetăText 2">
            <a:extLst>
              <a:ext uri="{FF2B5EF4-FFF2-40B4-BE49-F238E27FC236}">
                <a16:creationId xmlns:a16="http://schemas.microsoft.com/office/drawing/2014/main" id="{1F70E4F7-BC44-A11C-4B6F-229DCA55A8C0}"/>
              </a:ext>
            </a:extLst>
          </p:cNvPr>
          <p:cNvSpPr txBox="1"/>
          <p:nvPr/>
        </p:nvSpPr>
        <p:spPr>
          <a:xfrm>
            <a:off x="2319611" y="2323525"/>
            <a:ext cx="15520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Clientul</a:t>
            </a:r>
          </a:p>
        </p:txBody>
      </p:sp>
      <p:sp>
        <p:nvSpPr>
          <p:cNvPr id="4" name="CasetăText 3">
            <a:extLst>
              <a:ext uri="{FF2B5EF4-FFF2-40B4-BE49-F238E27FC236}">
                <a16:creationId xmlns:a16="http://schemas.microsoft.com/office/drawing/2014/main" id="{15ED9716-EECD-72CF-3592-AD6583A08171}"/>
              </a:ext>
            </a:extLst>
          </p:cNvPr>
          <p:cNvSpPr txBox="1"/>
          <p:nvPr/>
        </p:nvSpPr>
        <p:spPr>
          <a:xfrm>
            <a:off x="6919326" y="2275201"/>
            <a:ext cx="44422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Serverul (INET </a:t>
            </a:r>
            <a:r>
              <a:rPr lang="ro-RO" sz="3200" dirty="0" err="1">
                <a:solidFill>
                  <a:schemeClr val="bg1"/>
                </a:solidFill>
              </a:rPr>
              <a:t>Thread</a:t>
            </a:r>
            <a:r>
              <a:rPr lang="ro-RO" sz="3200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57B72DA4-281E-0CDA-D949-A101C3669C5E}"/>
              </a:ext>
            </a:extLst>
          </p:cNvPr>
          <p:cNvSpPr txBox="1"/>
          <p:nvPr/>
        </p:nvSpPr>
        <p:spPr>
          <a:xfrm>
            <a:off x="13837770" y="2282246"/>
            <a:ext cx="26901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Sincronizarea</a:t>
            </a:r>
          </a:p>
        </p:txBody>
      </p:sp>
      <p:sp>
        <p:nvSpPr>
          <p:cNvPr id="9" name="Google Shape;308;p21">
            <a:extLst>
              <a:ext uri="{FF2B5EF4-FFF2-40B4-BE49-F238E27FC236}">
                <a16:creationId xmlns:a16="http://schemas.microsoft.com/office/drawing/2014/main" id="{C5C9C341-278C-9E8A-F206-5AD75A0E714A}"/>
              </a:ext>
            </a:extLst>
          </p:cNvPr>
          <p:cNvSpPr txBox="1"/>
          <p:nvPr/>
        </p:nvSpPr>
        <p:spPr>
          <a:xfrm>
            <a:off x="371475" y="1517200"/>
            <a:ext cx="12564818" cy="646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Cum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ajunge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testul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student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server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9"/>
          <p:cNvSpPr txBox="1"/>
          <p:nvPr/>
        </p:nvSpPr>
        <p:spPr>
          <a:xfrm>
            <a:off x="381000" y="565366"/>
            <a:ext cx="9763125" cy="2363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Workflow-</a:t>
            </a:r>
            <a:r>
              <a:rPr lang="en-US" sz="6399" b="0" i="0" u="none" strike="noStrike" cap="none" dirty="0" err="1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ul</a:t>
            </a: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Aplicației</a:t>
            </a: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Pasul 2</a:t>
            </a:r>
          </a:p>
        </p:txBody>
      </p:sp>
      <p:sp>
        <p:nvSpPr>
          <p:cNvPr id="206" name="Google Shape;206;p19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8" name="Titlu 7">
            <a:extLst>
              <a:ext uri="{FF2B5EF4-FFF2-40B4-BE49-F238E27FC236}">
                <a16:creationId xmlns:a16="http://schemas.microsoft.com/office/drawing/2014/main" id="{C37B07CE-6165-1BB0-5F8E-E87A50C37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2792" y="3971574"/>
            <a:ext cx="2232415" cy="706849"/>
          </a:xfr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>
            <a:normAutofit/>
          </a:bodyPr>
          <a:lstStyle/>
          <a:p>
            <a:r>
              <a:rPr lang="ro-RO" sz="4000" dirty="0"/>
              <a:t>Trezirea</a:t>
            </a:r>
          </a:p>
        </p:txBody>
      </p:sp>
      <p:sp>
        <p:nvSpPr>
          <p:cNvPr id="9" name="Substituent text 8">
            <a:extLst>
              <a:ext uri="{FF2B5EF4-FFF2-40B4-BE49-F238E27FC236}">
                <a16:creationId xmlns:a16="http://schemas.microsoft.com/office/drawing/2014/main" id="{EEABE242-9A81-8C45-3CB4-621AED612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0692" y="4910961"/>
            <a:ext cx="5204215" cy="4278759"/>
          </a:xfr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ro-RO" sz="2000" dirty="0" err="1"/>
              <a:t>Worker</a:t>
            </a:r>
            <a:r>
              <a:rPr lang="ro-RO" sz="2000" dirty="0"/>
              <a:t> </a:t>
            </a:r>
            <a:r>
              <a:rPr lang="ro-RO" sz="2000" dirty="0" err="1"/>
              <a:t>Thread</a:t>
            </a:r>
            <a:r>
              <a:rPr lang="ro-RO" sz="2000" dirty="0"/>
              <a:t> primește semnalul</a:t>
            </a:r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marL="114300" indent="0" algn="ctr">
              <a:buNone/>
            </a:pPr>
            <a:endParaRPr lang="en-US" sz="2000" dirty="0"/>
          </a:p>
          <a:p>
            <a:pPr algn="ctr"/>
            <a:r>
              <a:rPr lang="en-US" sz="2000" dirty="0" err="1"/>
              <a:t>Blochează</a:t>
            </a:r>
            <a:r>
              <a:rPr lang="en-US" sz="2000" dirty="0"/>
              <a:t> Mutex-</a:t>
            </a:r>
            <a:r>
              <a:rPr lang="en-US" sz="2000" dirty="0" err="1"/>
              <a:t>ul</a:t>
            </a:r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r>
              <a:rPr lang="en-US" sz="2000" dirty="0"/>
              <a:t>E</a:t>
            </a:r>
            <a:r>
              <a:rPr lang="ro-RO" sz="2000" dirty="0" err="1"/>
              <a:t>xtrage</a:t>
            </a:r>
            <a:r>
              <a:rPr lang="ro-RO" sz="2000" dirty="0"/>
              <a:t> primul test din coadă și eliberează </a:t>
            </a:r>
            <a:r>
              <a:rPr lang="ro-RO" sz="2000" dirty="0" err="1"/>
              <a:t>Mutex-ul</a:t>
            </a:r>
            <a:r>
              <a:rPr lang="ro-RO" sz="2000" dirty="0"/>
              <a:t> rapid</a:t>
            </a:r>
          </a:p>
        </p:txBody>
      </p:sp>
      <p:sp>
        <p:nvSpPr>
          <p:cNvPr id="13" name="Săgeată: jos 12">
            <a:extLst>
              <a:ext uri="{FF2B5EF4-FFF2-40B4-BE49-F238E27FC236}">
                <a16:creationId xmlns:a16="http://schemas.microsoft.com/office/drawing/2014/main" id="{1A73DA83-ACE2-9A2C-F8E1-DA34407BA096}"/>
              </a:ext>
            </a:extLst>
          </p:cNvPr>
          <p:cNvSpPr/>
          <p:nvPr/>
        </p:nvSpPr>
        <p:spPr>
          <a:xfrm>
            <a:off x="3154679" y="7126398"/>
            <a:ext cx="548640" cy="84582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/>
          </a:p>
        </p:txBody>
      </p:sp>
      <p:sp>
        <p:nvSpPr>
          <p:cNvPr id="14" name="Titlu 7">
            <a:extLst>
              <a:ext uri="{FF2B5EF4-FFF2-40B4-BE49-F238E27FC236}">
                <a16:creationId xmlns:a16="http://schemas.microsoft.com/office/drawing/2014/main" id="{AE51CDFA-3A54-4796-1AAA-03C8C349C34F}"/>
              </a:ext>
            </a:extLst>
          </p:cNvPr>
          <p:cNvSpPr txBox="1">
            <a:spLocks/>
          </p:cNvSpPr>
          <p:nvPr/>
        </p:nvSpPr>
        <p:spPr>
          <a:xfrm>
            <a:off x="7739535" y="3630733"/>
            <a:ext cx="2232415" cy="1171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b="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o-RO" sz="4000" dirty="0"/>
              <a:t>Puntea C-C++</a:t>
            </a:r>
          </a:p>
        </p:txBody>
      </p:sp>
      <p:sp>
        <p:nvSpPr>
          <p:cNvPr id="17" name="Substituent text 8">
            <a:extLst>
              <a:ext uri="{FF2B5EF4-FFF2-40B4-BE49-F238E27FC236}">
                <a16:creationId xmlns:a16="http://schemas.microsoft.com/office/drawing/2014/main" id="{0567E242-C7A3-AEDD-11FB-5082704EE677}"/>
              </a:ext>
            </a:extLst>
          </p:cNvPr>
          <p:cNvSpPr txBox="1">
            <a:spLocks/>
          </p:cNvSpPr>
          <p:nvPr/>
        </p:nvSpPr>
        <p:spPr>
          <a:xfrm>
            <a:off x="6107306" y="4910961"/>
            <a:ext cx="5204215" cy="427875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pPr algn="ctr"/>
            <a:r>
              <a:rPr lang="it-IT" sz="2000" dirty="0"/>
              <a:t>Trimite imaginea prin wrapper-ul nostru nativ</a:t>
            </a: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algn="ctr"/>
            <a:r>
              <a:rPr lang="en-US" sz="2000" dirty="0"/>
              <a:t> </a:t>
            </a:r>
            <a:r>
              <a:rPr lang="pt-BR" sz="2000" dirty="0"/>
              <a:t>Biblioteca precompilată OpenCV o primește</a:t>
            </a:r>
            <a:endParaRPr lang="en-US" sz="2000" dirty="0"/>
          </a:p>
        </p:txBody>
      </p:sp>
      <p:sp>
        <p:nvSpPr>
          <p:cNvPr id="18" name="Substituent text 8">
            <a:extLst>
              <a:ext uri="{FF2B5EF4-FFF2-40B4-BE49-F238E27FC236}">
                <a16:creationId xmlns:a16="http://schemas.microsoft.com/office/drawing/2014/main" id="{6074ECE4-6392-8D9D-9062-BB73DA5E54BC}"/>
              </a:ext>
            </a:extLst>
          </p:cNvPr>
          <p:cNvSpPr txBox="1">
            <a:spLocks/>
          </p:cNvSpPr>
          <p:nvPr/>
        </p:nvSpPr>
        <p:spPr>
          <a:xfrm>
            <a:off x="11463920" y="4910961"/>
            <a:ext cx="5204215" cy="427875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pPr algn="ctr"/>
            <a:r>
              <a:rPr lang="ro-RO" sz="2000" dirty="0">
                <a:latin typeface="Inclusive Sans" panose="020B0604020202020204" charset="0"/>
                <a:cs typeface="Inclusive Sans" panose="020B0604020202020204" charset="0"/>
              </a:rPr>
              <a:t>Analizează coordonatele fiecărei bule</a:t>
            </a: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marL="114300" indent="0" algn="ctr">
              <a:buFont typeface="Inclusive Sans"/>
              <a:buNone/>
            </a:pP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N</a:t>
            </a:r>
            <a:r>
              <a:rPr lang="ro-RO" sz="2000" b="0" i="0" dirty="0" err="1">
                <a:effectLst/>
                <a:latin typeface="Inclusive Sans" panose="020B0604020202020204" charset="0"/>
                <a:cs typeface="Inclusive Sans" panose="020B0604020202020204" charset="0"/>
              </a:rPr>
              <a:t>umără</a:t>
            </a:r>
            <a:r>
              <a:rPr lang="ro-RO" sz="2000" b="0" i="0" dirty="0">
                <a:effectLst/>
                <a:latin typeface="Inclusive Sans" panose="020B0604020202020204" charset="0"/>
                <a:cs typeface="Inclusive Sans" panose="020B0604020202020204" charset="0"/>
              </a:rPr>
              <a:t> pixelii negri</a:t>
            </a: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marL="114300" indent="0" algn="ctr">
              <a:buNone/>
            </a:pP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Compară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cu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baremul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din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memorie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și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calculează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nota (ex: 9.75)</a:t>
            </a:r>
          </a:p>
          <a:p>
            <a:pPr algn="ctr"/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ro-RO" sz="2000" dirty="0">
                <a:latin typeface="Inclusive Sans" panose="020B0604020202020204" charset="0"/>
                <a:cs typeface="Inclusive Sans" panose="020B0604020202020204" charset="0"/>
              </a:rPr>
              <a:t>De asemenea, salvează pe disc o imagine temporară cu pătratele desenate pe ea</a:t>
            </a:r>
          </a:p>
        </p:txBody>
      </p:sp>
      <p:sp>
        <p:nvSpPr>
          <p:cNvPr id="19" name="Titlu 7">
            <a:extLst>
              <a:ext uri="{FF2B5EF4-FFF2-40B4-BE49-F238E27FC236}">
                <a16:creationId xmlns:a16="http://schemas.microsoft.com/office/drawing/2014/main" id="{0B0AD3AD-F08E-BEC0-C094-C88F3B694A44}"/>
              </a:ext>
            </a:extLst>
          </p:cNvPr>
          <p:cNvSpPr txBox="1">
            <a:spLocks/>
          </p:cNvSpPr>
          <p:nvPr/>
        </p:nvSpPr>
        <p:spPr>
          <a:xfrm>
            <a:off x="12873618" y="4011228"/>
            <a:ext cx="2405770" cy="74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b="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o-RO" sz="4000" dirty="0"/>
              <a:t>Scanarea</a:t>
            </a:r>
          </a:p>
        </p:txBody>
      </p:sp>
      <p:sp>
        <p:nvSpPr>
          <p:cNvPr id="20" name="Săgeată: jos 19">
            <a:extLst>
              <a:ext uri="{FF2B5EF4-FFF2-40B4-BE49-F238E27FC236}">
                <a16:creationId xmlns:a16="http://schemas.microsoft.com/office/drawing/2014/main" id="{77AF0832-51DD-95A7-50F4-999BDFDAAB1B}"/>
              </a:ext>
            </a:extLst>
          </p:cNvPr>
          <p:cNvSpPr/>
          <p:nvPr/>
        </p:nvSpPr>
        <p:spPr>
          <a:xfrm>
            <a:off x="3154679" y="5645261"/>
            <a:ext cx="548640" cy="84582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1" name="Săgeată: jos 20">
            <a:extLst>
              <a:ext uri="{FF2B5EF4-FFF2-40B4-BE49-F238E27FC236}">
                <a16:creationId xmlns:a16="http://schemas.microsoft.com/office/drawing/2014/main" id="{FFD2217F-59B3-6E1D-A8AA-32353EFA996E}"/>
              </a:ext>
            </a:extLst>
          </p:cNvPr>
          <p:cNvSpPr/>
          <p:nvPr/>
        </p:nvSpPr>
        <p:spPr>
          <a:xfrm>
            <a:off x="8090350" y="6385304"/>
            <a:ext cx="1238128" cy="1448033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24" name="Săgeată: jos 23">
            <a:extLst>
              <a:ext uri="{FF2B5EF4-FFF2-40B4-BE49-F238E27FC236}">
                <a16:creationId xmlns:a16="http://schemas.microsoft.com/office/drawing/2014/main" id="{A022D360-BFA1-53A4-E727-8EF531D8D9A6}"/>
              </a:ext>
            </a:extLst>
          </p:cNvPr>
          <p:cNvSpPr/>
          <p:nvPr/>
        </p:nvSpPr>
        <p:spPr>
          <a:xfrm>
            <a:off x="13878250" y="6260025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5" name="Săgeată: jos 24">
            <a:extLst>
              <a:ext uri="{FF2B5EF4-FFF2-40B4-BE49-F238E27FC236}">
                <a16:creationId xmlns:a16="http://schemas.microsoft.com/office/drawing/2014/main" id="{D64BF51C-12FD-AAEE-9679-6C0A7704592E}"/>
              </a:ext>
            </a:extLst>
          </p:cNvPr>
          <p:cNvSpPr/>
          <p:nvPr/>
        </p:nvSpPr>
        <p:spPr>
          <a:xfrm>
            <a:off x="13878250" y="7324248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6" name="Săgeată: jos 25">
            <a:extLst>
              <a:ext uri="{FF2B5EF4-FFF2-40B4-BE49-F238E27FC236}">
                <a16:creationId xmlns:a16="http://schemas.microsoft.com/office/drawing/2014/main" id="{946CECF6-0835-376B-0936-B19F8E949DB2}"/>
              </a:ext>
            </a:extLst>
          </p:cNvPr>
          <p:cNvSpPr/>
          <p:nvPr/>
        </p:nvSpPr>
        <p:spPr>
          <a:xfrm>
            <a:off x="13878250" y="5387244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1"/>
          <p:cNvSpPr txBox="1"/>
          <p:nvPr/>
        </p:nvSpPr>
        <p:spPr>
          <a:xfrm>
            <a:off x="420052" y="5254006"/>
            <a:ext cx="3386483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Trimiterea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Notei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endParaRPr dirty="0"/>
          </a:p>
        </p:txBody>
      </p:sp>
      <p:sp>
        <p:nvSpPr>
          <p:cNvPr id="294" name="Google Shape;294;p21"/>
          <p:cNvSpPr txBox="1"/>
          <p:nvPr/>
        </p:nvSpPr>
        <p:spPr>
          <a:xfrm>
            <a:off x="420053" y="6558931"/>
            <a:ext cx="512064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Worker-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buffer fix de 256 de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octeți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text cu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mesajul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"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Succes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! Nota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acordată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9.75/10"</a:t>
            </a:r>
            <a:endParaRPr lang="en-US" sz="2000" dirty="0"/>
          </a:p>
        </p:txBody>
      </p:sp>
      <p:cxnSp>
        <p:nvCxnSpPr>
          <p:cNvPr id="297" name="Google Shape;297;p21"/>
          <p:cNvCxnSpPr/>
          <p:nvPr/>
        </p:nvCxnSpPr>
        <p:spPr>
          <a:xfrm>
            <a:off x="340312" y="6143178"/>
            <a:ext cx="17607376" cy="0"/>
          </a:xfrm>
          <a:prstGeom prst="straightConnector1">
            <a:avLst/>
          </a:prstGeom>
          <a:noFill/>
          <a:ln w="19050" cap="flat" cmpd="sng">
            <a:solidFill>
              <a:srgbClr val="A477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8" name="Google Shape;298;p21"/>
          <p:cNvSpPr/>
          <p:nvPr/>
        </p:nvSpPr>
        <p:spPr>
          <a:xfrm>
            <a:off x="705803" y="5986597"/>
            <a:ext cx="323850" cy="323850"/>
          </a:xfrm>
          <a:custGeom>
            <a:avLst/>
            <a:gdLst/>
            <a:ahLst/>
            <a:cxnLst/>
            <a:rect l="l" t="t" r="r" b="b"/>
            <a:pathLst>
              <a:path w="6350000" h="6350000" extrusionOk="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21"/>
          <p:cNvSpPr/>
          <p:nvPr/>
        </p:nvSpPr>
        <p:spPr>
          <a:xfrm>
            <a:off x="6702462" y="6013206"/>
            <a:ext cx="329011" cy="323850"/>
          </a:xfrm>
          <a:custGeom>
            <a:avLst/>
            <a:gdLst/>
            <a:ahLst/>
            <a:cxnLst/>
            <a:rect l="l" t="t" r="r" b="b"/>
            <a:pathLst>
              <a:path w="6451193" h="6350000" extrusionOk="0">
                <a:moveTo>
                  <a:pt x="3225597" y="0"/>
                </a:moveTo>
                <a:cubicBezTo>
                  <a:pt x="1444149" y="0"/>
                  <a:pt x="0" y="1421496"/>
                  <a:pt x="0" y="3175000"/>
                </a:cubicBezTo>
                <a:cubicBezTo>
                  <a:pt x="0" y="4928504"/>
                  <a:pt x="1444149" y="6350000"/>
                  <a:pt x="3225597" y="6350000"/>
                </a:cubicBezTo>
                <a:cubicBezTo>
                  <a:pt x="5007044" y="6350000"/>
                  <a:pt x="6451193" y="4928504"/>
                  <a:pt x="6451193" y="3175000"/>
                </a:cubicBezTo>
                <a:cubicBezTo>
                  <a:pt x="6451193" y="1421496"/>
                  <a:pt x="5007044" y="0"/>
                  <a:pt x="3225597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21"/>
          <p:cNvSpPr/>
          <p:nvPr/>
        </p:nvSpPr>
        <p:spPr>
          <a:xfrm>
            <a:off x="13239393" y="5986597"/>
            <a:ext cx="329011" cy="323850"/>
          </a:xfrm>
          <a:custGeom>
            <a:avLst/>
            <a:gdLst/>
            <a:ahLst/>
            <a:cxnLst/>
            <a:rect l="l" t="t" r="r" b="b"/>
            <a:pathLst>
              <a:path w="6451193" h="6350000" extrusionOk="0">
                <a:moveTo>
                  <a:pt x="3225597" y="0"/>
                </a:moveTo>
                <a:cubicBezTo>
                  <a:pt x="1444149" y="0"/>
                  <a:pt x="0" y="1421496"/>
                  <a:pt x="0" y="3175000"/>
                </a:cubicBezTo>
                <a:cubicBezTo>
                  <a:pt x="0" y="4928504"/>
                  <a:pt x="1444149" y="6350000"/>
                  <a:pt x="3225597" y="6350000"/>
                </a:cubicBezTo>
                <a:cubicBezTo>
                  <a:pt x="5007044" y="6350000"/>
                  <a:pt x="6451193" y="4928504"/>
                  <a:pt x="6451193" y="3175000"/>
                </a:cubicBezTo>
                <a:cubicBezTo>
                  <a:pt x="6451193" y="1421496"/>
                  <a:pt x="5007044" y="0"/>
                  <a:pt x="3225597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21"/>
          <p:cNvSpPr txBox="1"/>
          <p:nvPr/>
        </p:nvSpPr>
        <p:spPr>
          <a:xfrm>
            <a:off x="6410499" y="5184116"/>
            <a:ext cx="35082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Trimiterea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Dovezii</a:t>
            </a:r>
            <a:endParaRPr lang="en-US" dirty="0"/>
          </a:p>
        </p:txBody>
      </p:sp>
      <p:sp>
        <p:nvSpPr>
          <p:cNvPr id="303" name="Google Shape;303;p21"/>
          <p:cNvSpPr txBox="1"/>
          <p:nvPr/>
        </p:nvSpPr>
        <p:spPr>
          <a:xfrm>
            <a:off x="6567491" y="6525588"/>
            <a:ext cx="5663562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Imediat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după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Worker-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dimensiunea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imaginii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corectate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(4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octeți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urmată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fluxul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al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pozei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(.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png-ul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modificat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).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După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serverul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șterge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poza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pe disc.</a:t>
            </a:r>
            <a:endParaRPr lang="en-US" sz="2000" dirty="0"/>
          </a:p>
        </p:txBody>
      </p:sp>
      <p:sp>
        <p:nvSpPr>
          <p:cNvPr id="304" name="Google Shape;304;p21"/>
          <p:cNvSpPr txBox="1"/>
          <p:nvPr/>
        </p:nvSpPr>
        <p:spPr>
          <a:xfrm>
            <a:off x="12969631" y="5254006"/>
            <a:ext cx="294174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Finalul</a:t>
            </a:r>
            <a:endParaRPr lang="en-US" dirty="0"/>
          </a:p>
        </p:txBody>
      </p:sp>
      <p:sp>
        <p:nvSpPr>
          <p:cNvPr id="305" name="Google Shape;305;p21"/>
          <p:cNvSpPr txBox="1"/>
          <p:nvPr/>
        </p:nvSpPr>
        <p:spPr>
          <a:xfrm>
            <a:off x="12945818" y="6558931"/>
            <a:ext cx="5235502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Clientul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printează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nota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consolă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primește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fluxul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salvează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poza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cu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numele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introdus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client.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Apoi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se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închide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curat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000" dirty="0"/>
          </a:p>
        </p:txBody>
      </p:sp>
      <p:grpSp>
        <p:nvGrpSpPr>
          <p:cNvPr id="306" name="Google Shape;306;p21"/>
          <p:cNvGrpSpPr/>
          <p:nvPr/>
        </p:nvGrpSpPr>
        <p:grpSpPr>
          <a:xfrm>
            <a:off x="381000" y="903785"/>
            <a:ext cx="12564818" cy="1795378"/>
            <a:chOff x="0" y="0"/>
            <a:chExt cx="16753091" cy="2393837"/>
          </a:xfrm>
        </p:grpSpPr>
        <p:sp>
          <p:nvSpPr>
            <p:cNvPr id="307" name="Google Shape;307;p21"/>
            <p:cNvSpPr txBox="1"/>
            <p:nvPr/>
          </p:nvSpPr>
          <p:spPr>
            <a:xfrm>
              <a:off x="0" y="0"/>
              <a:ext cx="16753091" cy="15756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Workflow-</a:t>
              </a:r>
              <a:r>
                <a:rPr lang="en-US" sz="6399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ul</a:t>
              </a: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 </a:t>
              </a:r>
              <a:r>
                <a:rPr lang="en-US" sz="6399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Aplicației</a:t>
              </a: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 – Pasul 3</a:t>
              </a:r>
              <a:endParaRPr lang="en-US" dirty="0"/>
            </a:p>
          </p:txBody>
        </p:sp>
        <p:sp>
          <p:nvSpPr>
            <p:cNvPr id="308" name="Google Shape;308;p21"/>
            <p:cNvSpPr txBox="1"/>
            <p:nvPr/>
          </p:nvSpPr>
          <p:spPr>
            <a:xfrm>
              <a:off x="0" y="1532318"/>
              <a:ext cx="16753091" cy="8615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Cum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primește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clientul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rezultatul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înapoi</a:t>
              </a:r>
              <a:endParaRPr lang="en-US" dirty="0"/>
            </a:p>
          </p:txBody>
        </p:sp>
      </p:grpSp>
      <p:sp>
        <p:nvSpPr>
          <p:cNvPr id="309" name="Google Shape;309;p21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310" name="Google Shape;310;p21"/>
          <p:cNvSpPr/>
          <p:nvPr/>
        </p:nvSpPr>
        <p:spPr>
          <a:xfrm rot="-5400000">
            <a:off x="14067231" y="-240322"/>
            <a:ext cx="4279549" cy="4279549"/>
          </a:xfrm>
          <a:custGeom>
            <a:avLst/>
            <a:gdLst/>
            <a:ahLst/>
            <a:cxnLst/>
            <a:rect l="l" t="t" r="r" b="b"/>
            <a:pathLst>
              <a:path w="4279549" h="4279549" extrusionOk="0">
                <a:moveTo>
                  <a:pt x="0" y="0"/>
                </a:moveTo>
                <a:lnTo>
                  <a:pt x="4279548" y="0"/>
                </a:lnTo>
                <a:lnTo>
                  <a:pt x="4279548" y="4279549"/>
                </a:lnTo>
                <a:lnTo>
                  <a:pt x="0" y="42795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477FF"/>
        </a:solidFill>
        <a:effectLst/>
      </p:bgPr>
    </p:bg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22"/>
          <p:cNvSpPr/>
          <p:nvPr/>
        </p:nvSpPr>
        <p:spPr>
          <a:xfrm>
            <a:off x="-256086" y="-1188970"/>
            <a:ext cx="18800170" cy="12237202"/>
          </a:xfrm>
          <a:custGeom>
            <a:avLst/>
            <a:gdLst/>
            <a:ahLst/>
            <a:cxnLst/>
            <a:rect l="l" t="t" r="r" b="b"/>
            <a:pathLst>
              <a:path w="18800170" h="12237202" extrusionOk="0">
                <a:moveTo>
                  <a:pt x="0" y="0"/>
                </a:moveTo>
                <a:lnTo>
                  <a:pt x="18800170" y="0"/>
                </a:lnTo>
                <a:lnTo>
                  <a:pt x="18800170" y="12237202"/>
                </a:lnTo>
                <a:lnTo>
                  <a:pt x="0" y="122372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  <p:grpSp>
        <p:nvGrpSpPr>
          <p:cNvPr id="316" name="Google Shape;316;p22"/>
          <p:cNvGrpSpPr/>
          <p:nvPr/>
        </p:nvGrpSpPr>
        <p:grpSpPr>
          <a:xfrm>
            <a:off x="5442167" y="2643053"/>
            <a:ext cx="6608045" cy="6806522"/>
            <a:chOff x="0" y="-19050"/>
            <a:chExt cx="1740390" cy="1792664"/>
          </a:xfrm>
        </p:grpSpPr>
        <p:sp>
          <p:nvSpPr>
            <p:cNvPr id="317" name="Google Shape;317;p22"/>
            <p:cNvSpPr/>
            <p:nvPr/>
          </p:nvSpPr>
          <p:spPr>
            <a:xfrm>
              <a:off x="0" y="0"/>
              <a:ext cx="1740390" cy="1773614"/>
            </a:xfrm>
            <a:custGeom>
              <a:avLst/>
              <a:gdLst/>
              <a:ahLst/>
              <a:cxnLst/>
              <a:rect l="l" t="t" r="r" b="b"/>
              <a:pathLst>
                <a:path w="1740390" h="1773614" extrusionOk="0">
                  <a:moveTo>
                    <a:pt x="23432" y="0"/>
                  </a:moveTo>
                  <a:lnTo>
                    <a:pt x="1716959" y="0"/>
                  </a:lnTo>
                  <a:cubicBezTo>
                    <a:pt x="1723173" y="0"/>
                    <a:pt x="1729133" y="2469"/>
                    <a:pt x="1733528" y="6863"/>
                  </a:cubicBezTo>
                  <a:cubicBezTo>
                    <a:pt x="1737922" y="11257"/>
                    <a:pt x="1740390" y="17217"/>
                    <a:pt x="1740390" y="23432"/>
                  </a:cubicBezTo>
                  <a:lnTo>
                    <a:pt x="1740390" y="1750183"/>
                  </a:lnTo>
                  <a:cubicBezTo>
                    <a:pt x="1740390" y="1756397"/>
                    <a:pt x="1737922" y="1762357"/>
                    <a:pt x="1733528" y="1766751"/>
                  </a:cubicBezTo>
                  <a:cubicBezTo>
                    <a:pt x="1729133" y="1771146"/>
                    <a:pt x="1723173" y="1773614"/>
                    <a:pt x="1716959" y="1773614"/>
                  </a:cubicBezTo>
                  <a:lnTo>
                    <a:pt x="23432" y="1773614"/>
                  </a:lnTo>
                  <a:cubicBezTo>
                    <a:pt x="17217" y="1773614"/>
                    <a:pt x="11257" y="1771146"/>
                    <a:pt x="6863" y="1766751"/>
                  </a:cubicBezTo>
                  <a:cubicBezTo>
                    <a:pt x="2469" y="1762357"/>
                    <a:pt x="0" y="1756397"/>
                    <a:pt x="0" y="1750183"/>
                  </a:cubicBezTo>
                  <a:lnTo>
                    <a:pt x="0" y="23432"/>
                  </a:lnTo>
                  <a:cubicBezTo>
                    <a:pt x="0" y="17217"/>
                    <a:pt x="2469" y="11257"/>
                    <a:pt x="6863" y="6863"/>
                  </a:cubicBezTo>
                  <a:cubicBezTo>
                    <a:pt x="11257" y="2469"/>
                    <a:pt x="17217" y="0"/>
                    <a:pt x="23432" y="0"/>
                  </a:cubicBezTo>
                  <a:close/>
                </a:path>
              </a:pathLst>
            </a:custGeom>
            <a:solidFill>
              <a:srgbClr val="1B0D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2"/>
            <p:cNvSpPr txBox="1"/>
            <p:nvPr/>
          </p:nvSpPr>
          <p:spPr>
            <a:xfrm>
              <a:off x="0" y="-19050"/>
              <a:ext cx="1740390" cy="17926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2" name="Google Shape;322;p22"/>
          <p:cNvSpPr txBox="1"/>
          <p:nvPr/>
        </p:nvSpPr>
        <p:spPr>
          <a:xfrm>
            <a:off x="2380188" y="820324"/>
            <a:ext cx="13527624" cy="118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 err="1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Panoul</a:t>
            </a:r>
            <a:r>
              <a:rPr lang="en-US" sz="6399" b="0" i="0" u="none" strike="noStrike" cap="none" dirty="0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Administratorului</a:t>
            </a:r>
            <a:endParaRPr lang="en-US" dirty="0"/>
          </a:p>
        </p:txBody>
      </p:sp>
      <p:sp>
        <p:nvSpPr>
          <p:cNvPr id="324" name="Google Shape;324;p22"/>
          <p:cNvSpPr txBox="1"/>
          <p:nvPr/>
        </p:nvSpPr>
        <p:spPr>
          <a:xfrm>
            <a:off x="6022039" y="3557971"/>
            <a:ext cx="5448300" cy="3988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Adminul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foloseste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Socket UNIX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Securitate</a:t>
            </a: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Control 1:1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avea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doar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admin active in acelasi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timp</a:t>
            </a:r>
            <a:endParaRPr lang="en-US" sz="2400" b="1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Mecanism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Timeout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daca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administratorul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este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inactive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30 de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secunde</a:t>
            </a:r>
            <a:endParaRPr lang="en-US" sz="2400" b="1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</p:txBody>
      </p:sp>
      <p:sp>
        <p:nvSpPr>
          <p:cNvPr id="5" name="Google Shape;324;p22">
            <a:extLst>
              <a:ext uri="{FF2B5EF4-FFF2-40B4-BE49-F238E27FC236}">
                <a16:creationId xmlns:a16="http://schemas.microsoft.com/office/drawing/2014/main" id="{63A7EC47-76DD-AAA5-359F-85CE50DC67B3}"/>
              </a:ext>
            </a:extLst>
          </p:cNvPr>
          <p:cNvSpPr txBox="1"/>
          <p:nvPr/>
        </p:nvSpPr>
        <p:spPr>
          <a:xfrm>
            <a:off x="10136841" y="3532723"/>
            <a:ext cx="5448300" cy="70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24;p22">
            <a:extLst>
              <a:ext uri="{FF2B5EF4-FFF2-40B4-BE49-F238E27FC236}">
                <a16:creationId xmlns:a16="http://schemas.microsoft.com/office/drawing/2014/main" id="{7F0B0AFA-AEEF-125C-2685-797EA0B16D48}"/>
              </a:ext>
            </a:extLst>
          </p:cNvPr>
          <p:cNvSpPr txBox="1"/>
          <p:nvPr/>
        </p:nvSpPr>
        <p:spPr>
          <a:xfrm>
            <a:off x="1887102" y="3300615"/>
            <a:ext cx="11868086" cy="4875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Monitorizarea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Resurselor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în</a:t>
            </a:r>
            <a:r>
              <a:rPr lang="en-US" sz="2400" b="1" dirty="0">
                <a:solidFill>
                  <a:schemeClr val="bg1"/>
                </a:solidFill>
              </a:rPr>
              <a:t> Timp real: </a:t>
            </a:r>
            <a:r>
              <a:rPr lang="en-US" sz="2400" b="1" dirty="0" err="1">
                <a:solidFill>
                  <a:schemeClr val="bg1"/>
                </a:solidFill>
              </a:rPr>
              <a:t>Interogarea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numărul</a:t>
            </a:r>
            <a:r>
              <a:rPr lang="en-US" sz="2400" b="1" dirty="0">
                <a:solidFill>
                  <a:schemeClr val="bg1"/>
                </a:solidFill>
              </a:rPr>
              <a:t> de </a:t>
            </a:r>
            <a:r>
              <a:rPr lang="en-US" sz="2400" b="1" dirty="0" err="1">
                <a:solidFill>
                  <a:schemeClr val="bg1"/>
                </a:solidFill>
              </a:rPr>
              <a:t>clienți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conectați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simultan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Statistici</a:t>
            </a:r>
            <a:r>
              <a:rPr lang="en-US" sz="2400" b="1" dirty="0">
                <a:solidFill>
                  <a:schemeClr val="bg1"/>
                </a:solidFill>
              </a:rPr>
              <a:t>: </a:t>
            </a:r>
            <a:r>
              <a:rPr lang="en-US" sz="2400" b="1" dirty="0" err="1">
                <a:solidFill>
                  <a:schemeClr val="bg1"/>
                </a:solidFill>
              </a:rPr>
              <a:t>Calcularea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timpului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mediu</a:t>
            </a:r>
            <a:r>
              <a:rPr lang="en-US" sz="2400" b="1" dirty="0">
                <a:solidFill>
                  <a:schemeClr val="bg1"/>
                </a:solidFill>
              </a:rPr>
              <a:t> de </a:t>
            </a:r>
            <a:r>
              <a:rPr lang="en-US" sz="2400" b="1" dirty="0" err="1">
                <a:solidFill>
                  <a:schemeClr val="bg1"/>
                </a:solidFill>
              </a:rPr>
              <a:t>execuție</a:t>
            </a:r>
            <a:r>
              <a:rPr lang="en-US" sz="2400" b="1" dirty="0">
                <a:solidFill>
                  <a:schemeClr val="bg1"/>
                </a:solidFill>
              </a:rPr>
              <a:t> per test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rata de </a:t>
            </a:r>
            <a:r>
              <a:rPr lang="en-US" sz="2400" b="1" dirty="0" err="1">
                <a:solidFill>
                  <a:schemeClr val="bg1"/>
                </a:solidFill>
              </a:rPr>
              <a:t>succes</a:t>
            </a:r>
            <a:r>
              <a:rPr lang="en-US" sz="2400" b="1" dirty="0">
                <a:solidFill>
                  <a:schemeClr val="bg1"/>
                </a:solidFill>
              </a:rPr>
              <a:t> a </a:t>
            </a:r>
            <a:r>
              <a:rPr lang="en-US" sz="2400" b="1" dirty="0" err="1">
                <a:solidFill>
                  <a:schemeClr val="bg1"/>
                </a:solidFill>
              </a:rPr>
              <a:t>motorului</a:t>
            </a:r>
            <a:r>
              <a:rPr lang="en-US" sz="2400" b="1" dirty="0">
                <a:solidFill>
                  <a:schemeClr val="bg1"/>
                </a:solidFill>
              </a:rPr>
              <a:t> OpenCV </a:t>
            </a: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Istoric</a:t>
            </a:r>
            <a:r>
              <a:rPr lang="en-US" sz="2400" b="1" dirty="0">
                <a:solidFill>
                  <a:schemeClr val="bg1"/>
                </a:solidFill>
              </a:rPr>
              <a:t>: </a:t>
            </a:r>
            <a:r>
              <a:rPr lang="en-US" sz="2400" b="1" dirty="0" err="1">
                <a:solidFill>
                  <a:schemeClr val="bg1"/>
                </a:solidFill>
              </a:rPr>
              <a:t>Istoricul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ultimelor</a:t>
            </a:r>
            <a:r>
              <a:rPr lang="en-US" sz="2400" b="1" dirty="0">
                <a:solidFill>
                  <a:schemeClr val="bg1"/>
                </a:solidFill>
              </a:rPr>
              <a:t> note </a:t>
            </a:r>
            <a:r>
              <a:rPr lang="en-US" sz="2400" b="1" dirty="0" err="1">
                <a:solidFill>
                  <a:schemeClr val="bg1"/>
                </a:solidFill>
              </a:rPr>
              <a:t>acordate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cât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posibilitatea</a:t>
            </a:r>
            <a:r>
              <a:rPr lang="en-US" sz="2400" b="1" dirty="0">
                <a:solidFill>
                  <a:schemeClr val="bg1"/>
                </a:solidFill>
              </a:rPr>
              <a:t> de a </a:t>
            </a:r>
            <a:r>
              <a:rPr lang="en-US" sz="2400" b="1" dirty="0" err="1">
                <a:solidFill>
                  <a:schemeClr val="bg1"/>
                </a:solidFill>
              </a:rPr>
              <a:t>vedea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procesul</a:t>
            </a:r>
            <a:r>
              <a:rPr lang="en-US" sz="2400" b="1" dirty="0">
                <a:solidFill>
                  <a:schemeClr val="bg1"/>
                </a:solidFill>
              </a:rPr>
              <a:t> care </a:t>
            </a:r>
            <a:r>
              <a:rPr lang="en-US" sz="2400" b="1" dirty="0" err="1">
                <a:solidFill>
                  <a:schemeClr val="bg1"/>
                </a:solidFill>
              </a:rPr>
              <a:t>executa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acum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Oprirea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Sincrona</a:t>
            </a:r>
            <a:r>
              <a:rPr lang="en-US" sz="2400" b="1" dirty="0">
                <a:solidFill>
                  <a:schemeClr val="bg1"/>
                </a:solidFill>
              </a:rPr>
              <a:t>: </a:t>
            </a:r>
            <a:r>
              <a:rPr lang="en-US" sz="2400" b="1" dirty="0" err="1">
                <a:solidFill>
                  <a:schemeClr val="bg1"/>
                </a:solidFill>
              </a:rPr>
              <a:t>Comanda</a:t>
            </a:r>
            <a:r>
              <a:rPr lang="en-US" sz="2400" b="1" dirty="0">
                <a:solidFill>
                  <a:schemeClr val="bg1"/>
                </a:solidFill>
              </a:rPr>
              <a:t> de </a:t>
            </a:r>
            <a:r>
              <a:rPr lang="en-US" sz="2400" b="1" dirty="0" err="1">
                <a:solidFill>
                  <a:schemeClr val="bg1"/>
                </a:solidFill>
              </a:rPr>
              <a:t>oprire</a:t>
            </a:r>
            <a:r>
              <a:rPr lang="en-US" sz="2400" b="1" dirty="0">
                <a:solidFill>
                  <a:schemeClr val="bg1"/>
                </a:solidFill>
              </a:rPr>
              <a:t> care </a:t>
            </a:r>
            <a:r>
              <a:rPr lang="en-US" sz="2400" b="1" dirty="0" err="1">
                <a:solidFill>
                  <a:schemeClr val="bg1"/>
                </a:solidFill>
              </a:rPr>
              <a:t>declanșează</a:t>
            </a:r>
            <a:r>
              <a:rPr lang="en-US" sz="2400" b="1" dirty="0">
                <a:solidFill>
                  <a:schemeClr val="bg1"/>
                </a:solidFill>
              </a:rPr>
              <a:t> un </a:t>
            </a:r>
            <a:r>
              <a:rPr lang="en-US" sz="2400" b="1" dirty="0" err="1">
                <a:solidFill>
                  <a:schemeClr val="bg1"/>
                </a:solidFill>
              </a:rPr>
              <a:t>semnal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închide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curat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toate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firele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eliberează</a:t>
            </a:r>
            <a:r>
              <a:rPr lang="en-US" sz="2400" b="1" dirty="0">
                <a:solidFill>
                  <a:schemeClr val="bg1"/>
                </a:solidFill>
              </a:rPr>
              <a:t> memoria</a:t>
            </a:r>
            <a:endParaRPr lang="en-US" sz="2400" b="1" i="0" u="none" strike="noStrike" cap="none" dirty="0">
              <a:solidFill>
                <a:schemeClr val="bg1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08051A-442A-0E5C-E989-B825D055506E}"/>
              </a:ext>
            </a:extLst>
          </p:cNvPr>
          <p:cNvSpPr txBox="1"/>
          <p:nvPr/>
        </p:nvSpPr>
        <p:spPr>
          <a:xfrm>
            <a:off x="3237575" y="1285752"/>
            <a:ext cx="118128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 err="1">
                <a:solidFill>
                  <a:srgbClr val="7030A0"/>
                </a:solidFill>
              </a:rPr>
              <a:t>Funcționalitățile</a:t>
            </a:r>
            <a:r>
              <a:rPr lang="en-US" sz="4000" b="1" dirty="0">
                <a:solidFill>
                  <a:srgbClr val="7030A0"/>
                </a:solidFill>
              </a:rPr>
              <a:t> </a:t>
            </a:r>
            <a:r>
              <a:rPr lang="en-US" sz="4000" b="1" dirty="0" err="1">
                <a:solidFill>
                  <a:srgbClr val="7030A0"/>
                </a:solidFill>
              </a:rPr>
              <a:t>și</a:t>
            </a:r>
            <a:r>
              <a:rPr lang="en-US" sz="4000" b="1" dirty="0">
                <a:solidFill>
                  <a:srgbClr val="7030A0"/>
                </a:solidFill>
              </a:rPr>
              <a:t> </a:t>
            </a:r>
            <a:r>
              <a:rPr lang="en-US" sz="4000" b="1" dirty="0" err="1">
                <a:solidFill>
                  <a:srgbClr val="7030A0"/>
                </a:solidFill>
              </a:rPr>
              <a:t>Comenzile</a:t>
            </a:r>
            <a:r>
              <a:rPr lang="en-US" sz="4000" b="1" dirty="0">
                <a:solidFill>
                  <a:srgbClr val="7030A0"/>
                </a:solidFill>
              </a:rPr>
              <a:t> </a:t>
            </a:r>
            <a:r>
              <a:rPr lang="en-US" sz="4000" b="1" dirty="0" err="1">
                <a:solidFill>
                  <a:srgbClr val="7030A0"/>
                </a:solidFill>
              </a:rPr>
              <a:t>Administratorului</a:t>
            </a:r>
            <a:endParaRPr lang="en-US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5682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Google Shape;353;p24"/>
          <p:cNvPicPr preferRelativeResize="0"/>
          <p:nvPr/>
        </p:nvPicPr>
        <p:blipFill rotWithShape="1">
          <a:blip r:embed="rId3">
            <a:alphaModFix/>
          </a:blip>
          <a:srcRect l="12157"/>
          <a:stretch/>
        </p:blipFill>
        <p:spPr>
          <a:xfrm>
            <a:off x="0" y="0"/>
            <a:ext cx="8398601" cy="10287001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24"/>
          <p:cNvSpPr txBox="1"/>
          <p:nvPr/>
        </p:nvSpPr>
        <p:spPr>
          <a:xfrm>
            <a:off x="10170838" y="3315499"/>
            <a:ext cx="7675202" cy="365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Mulțumim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pentru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atenția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acordată</a:t>
            </a:r>
            <a:endParaRPr lang="en-US" dirty="0"/>
          </a:p>
        </p:txBody>
      </p:sp>
      <p:sp>
        <p:nvSpPr>
          <p:cNvPr id="364" name="Google Shape;364;p24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690</Words>
  <Application>Microsoft Office PowerPoint</Application>
  <PresentationFormat>Particularizare</PresentationFormat>
  <Paragraphs>128</Paragraphs>
  <Slides>12</Slides>
  <Notes>11</Notes>
  <HiddenSlides>0</HiddenSlides>
  <MMClips>0</MMClips>
  <ScaleCrop>false</ScaleCrop>
  <HeadingPairs>
    <vt:vector size="6" baseType="variant">
      <vt:variant>
        <vt:lpstr>Fonturi utilizate</vt:lpstr>
      </vt:variant>
      <vt:variant>
        <vt:i4>6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12</vt:i4>
      </vt:variant>
    </vt:vector>
  </HeadingPairs>
  <TitlesOfParts>
    <vt:vector size="19" baseType="lpstr">
      <vt:lpstr>Arial</vt:lpstr>
      <vt:lpstr>Calibri</vt:lpstr>
      <vt:lpstr>Wingdings</vt:lpstr>
      <vt:lpstr>Merriweather Sans</vt:lpstr>
      <vt:lpstr>Inclusive Sans</vt:lpstr>
      <vt:lpstr>Merriweather Sans Light</vt:lpstr>
      <vt:lpstr>Office Theme</vt:lpstr>
      <vt:lpstr>Prezentare PowerPoint</vt:lpstr>
      <vt:lpstr>Prezentare PowerPoint</vt:lpstr>
      <vt:lpstr>Prezentarea temei </vt:lpstr>
      <vt:lpstr>Prezentare PowerPoint</vt:lpstr>
      <vt:lpstr>Prezentare PowerPoint</vt:lpstr>
      <vt:lpstr>Prezentare PowerPoint</vt:lpstr>
      <vt:lpstr>Prezentare PowerPoint</vt:lpstr>
      <vt:lpstr>Trezirea</vt:lpstr>
      <vt:lpstr>Prezentare PowerPoint</vt:lpstr>
      <vt:lpstr>Prezentare PowerPoint</vt:lpstr>
      <vt:lpstr>Prezentare PowerPoint</vt:lpstr>
      <vt:lpstr>Prezentare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Luky Puky</dc:creator>
  <cp:lastModifiedBy>Alexandru Botiz</cp:lastModifiedBy>
  <cp:revision>63</cp:revision>
  <dcterms:modified xsi:type="dcterms:W3CDTF">2026-06-15T06:58:45Z</dcterms:modified>
</cp:coreProperties>
</file>